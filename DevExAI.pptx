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76412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Photo: Annie Spratt on Unsplash (Unsplash License), unsplash.com/photos/QckxruozjRg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Photo: Arif Riyanto on Unsplash (Unsplash License), unsplash.com/photos/G1N9kDHqBrQ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Photo: X (@disruptxn) on Unsplash (Unsplash License), unsplash.com/photos/kwzWjTnDPLk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Photo: freestocks on Unsplash (Unsplash License), unsplash.com/photos/mw6Onwg4frY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Photo: Cherrydeck on Unsplash (Unsplash License), unsplash.com/photos/UpsEF48wAgk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itle.jpg"/>
          <p:cNvPicPr>
            <a:picLocks noChangeAspect="1"/>
          </p:cNvPicPr>
          <p:nvPr/>
        </p:nvPicPr>
        <p:blipFill>
          <a:blip r:embed="rId3"/>
          <a:srcRect t="7844" b="784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build01 TextBox 3"/>
          <p:cNvSpPr txBox="1"/>
          <p:nvPr/>
        </p:nvSpPr>
        <p:spPr>
          <a:xfrm>
            <a:off x="548640" y="137160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93C5FD"/>
                </a:solidFill>
                <a:latin typeface="Arial"/>
              </a:rPr>
              <a:t>PROPOSAL · DRAFT FOR REVIEW</a:t>
            </a:r>
          </a:p>
        </p:txBody>
      </p:sp>
      <p:sp>
        <p:nvSpPr>
          <p:cNvPr id="5" name="build01 TextBox 4"/>
          <p:cNvSpPr txBox="1"/>
          <p:nvPr/>
        </p:nvSpPr>
        <p:spPr>
          <a:xfrm>
            <a:off x="548640" y="182880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 i="0">
                <a:solidFill>
                  <a:srgbClr val="FFFFFF"/>
                </a:solidFill>
                <a:latin typeface="Arial"/>
              </a:rPr>
              <a:t>DevExAI — the company AI toolsmith</a:t>
            </a:r>
          </a:p>
        </p:txBody>
      </p:sp>
      <p:sp>
        <p:nvSpPr>
          <p:cNvPr id="6" name="build02 TextBox 5"/>
          <p:cNvSpPr txBox="1"/>
          <p:nvPr/>
        </p:nvSpPr>
        <p:spPr>
          <a:xfrm>
            <a:off x="548640" y="2926080"/>
            <a:ext cx="96012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F1F5F9"/>
                </a:solidFill>
                <a:latin typeface="Arial"/>
              </a:rPr>
              <a:t>Anyone drops an idea into team chat. AI checks it is safe, researches it, builds a ready-to-install tool for our AI coding assistants, and publishes a short post. The person with the idea gets the credit.</a:t>
            </a:r>
          </a:p>
        </p:txBody>
      </p:sp>
      <p:sp>
        <p:nvSpPr>
          <p:cNvPr id="7" name="build03 Rounded Rectangle 6"/>
          <p:cNvSpPr/>
          <p:nvPr/>
        </p:nvSpPr>
        <p:spPr>
          <a:xfrm>
            <a:off x="548640" y="4846320"/>
            <a:ext cx="3200400" cy="502920"/>
          </a:xfrm>
          <a:prstGeom prst="roundRect">
            <a:avLst>
              <a:gd name="adj" fmla="val 3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build03 TextBox 7"/>
          <p:cNvSpPr txBox="1"/>
          <p:nvPr/>
        </p:nvSpPr>
        <p:spPr>
          <a:xfrm>
            <a:off x="621792" y="4846320"/>
            <a:ext cx="3054096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 i="0">
                <a:solidFill>
                  <a:srgbClr val="FFFFFF"/>
                </a:solidFill>
                <a:latin typeface="Arial"/>
              </a:rPr>
              <a:t>Claude · Gemini · ChatGPT</a:t>
            </a:r>
          </a:p>
        </p:txBody>
      </p:sp>
      <p:sp>
        <p:nvSpPr>
          <p:cNvPr id="9" name="build03 Rounded Rectangle 8"/>
          <p:cNvSpPr/>
          <p:nvPr/>
        </p:nvSpPr>
        <p:spPr>
          <a:xfrm>
            <a:off x="3977639" y="4846320"/>
            <a:ext cx="3200400" cy="502920"/>
          </a:xfrm>
          <a:prstGeom prst="roundRect">
            <a:avLst>
              <a:gd name="adj" fmla="val 3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build03 TextBox 9"/>
          <p:cNvSpPr txBox="1"/>
          <p:nvPr/>
        </p:nvSpPr>
        <p:spPr>
          <a:xfrm>
            <a:off x="4050791" y="4846320"/>
            <a:ext cx="3054096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 i="0">
                <a:solidFill>
                  <a:srgbClr val="FFFFFF"/>
                </a:solidFill>
                <a:latin typeface="Arial"/>
              </a:rPr>
              <a:t>Any chat platform</a:t>
            </a:r>
          </a:p>
        </p:txBody>
      </p:sp>
      <p:sp>
        <p:nvSpPr>
          <p:cNvPr id="11" name="build03 Rounded Rectangle 10"/>
          <p:cNvSpPr/>
          <p:nvPr/>
        </p:nvSpPr>
        <p:spPr>
          <a:xfrm>
            <a:off x="7406640" y="4846320"/>
            <a:ext cx="3200400" cy="502920"/>
          </a:xfrm>
          <a:prstGeom prst="roundRect">
            <a:avLst>
              <a:gd name="adj" fmla="val 3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build03 TextBox 11"/>
          <p:cNvSpPr txBox="1"/>
          <p:nvPr/>
        </p:nvSpPr>
        <p:spPr>
          <a:xfrm>
            <a:off x="7479792" y="4846320"/>
            <a:ext cx="3054096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 i="0">
                <a:solidFill>
                  <a:srgbClr val="FFFFFF"/>
                </a:solidFill>
                <a:latin typeface="Arial"/>
              </a:rPr>
              <a:t>Built as a product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4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8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 animBg="1"/>
      <p:bldP spid="8" grpId="0"/>
      <p:bldP spid="9" grpId="0" animBg="1"/>
      <p:bldP spid="10" grpId="0"/>
      <p:bldP spid="11" grpId="0" animBg="1"/>
      <p:bldP spid="1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4338CA"/>
                </a:solidFill>
                <a:latin typeface="Arial"/>
              </a:rPr>
              <a:t>01 ·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0F172A"/>
                </a:solidFill>
                <a:latin typeface="Arial"/>
              </a:rPr>
              <a:t>Good AI tricks get lost in 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 i="0">
                <a:solidFill>
                  <a:srgbClr val="475569"/>
                </a:solidFill>
                <a:latin typeface="Arial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475569"/>
                </a:solidFill>
                <a:latin typeface="Arial"/>
              </a:rPr>
              <a:t>DevExAI · proposal draft</a:t>
            </a:r>
          </a:p>
        </p:txBody>
      </p:sp>
      <p:pic>
        <p:nvPicPr>
          <p:cNvPr id="6" name="Picture 5" descr="problem.jpg"/>
          <p:cNvPicPr>
            <a:picLocks noChangeAspect="1"/>
          </p:cNvPicPr>
          <p:nvPr/>
        </p:nvPicPr>
        <p:blipFill>
          <a:blip r:embed="rId3"/>
          <a:srcRect t="1061" b="1061"/>
          <a:stretch>
            <a:fillRect/>
          </a:stretch>
        </p:blipFill>
        <p:spPr>
          <a:xfrm>
            <a:off x="8625535" y="1600200"/>
            <a:ext cx="3017520" cy="4434840"/>
          </a:xfrm>
          <a:prstGeom prst="rect">
            <a:avLst/>
          </a:prstGeom>
        </p:spPr>
      </p:pic>
      <p:sp>
        <p:nvSpPr>
          <p:cNvPr id="7" name="build01 Rounded Rectangle 6"/>
          <p:cNvSpPr/>
          <p:nvPr/>
        </p:nvSpPr>
        <p:spPr>
          <a:xfrm>
            <a:off x="548640" y="1600200"/>
            <a:ext cx="7802575" cy="10515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build01 Rectangle 7"/>
          <p:cNvSpPr/>
          <p:nvPr/>
        </p:nvSpPr>
        <p:spPr>
          <a:xfrm>
            <a:off x="548640" y="1764792"/>
            <a:ext cx="64008" cy="722376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build01 TextBox 8"/>
          <p:cNvSpPr txBox="1"/>
          <p:nvPr/>
        </p:nvSpPr>
        <p:spPr>
          <a:xfrm>
            <a:off x="822959" y="1600200"/>
            <a:ext cx="4572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4338CA"/>
                </a:solidFill>
                <a:latin typeface="Arial"/>
              </a:rPr>
              <a:t>1</a:t>
            </a:r>
          </a:p>
        </p:txBody>
      </p:sp>
      <p:sp>
        <p:nvSpPr>
          <p:cNvPr id="10" name="build01 TextBox 9"/>
          <p:cNvSpPr txBox="1"/>
          <p:nvPr/>
        </p:nvSpPr>
        <p:spPr>
          <a:xfrm>
            <a:off x="1371600" y="1600200"/>
            <a:ext cx="6751015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0F172A"/>
                </a:solidFill>
                <a:latin typeface="Arial"/>
              </a:rPr>
              <a:t>Found every week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1600" b="0" i="0">
                <a:solidFill>
                  <a:srgbClr val="475569"/>
                </a:solidFill>
                <a:latin typeface="Arial"/>
              </a:rPr>
              <a:t>A blog post, a GitHub repo, a new prompt, a new MCP server that makes AI coding or code review better.</a:t>
            </a:r>
          </a:p>
        </p:txBody>
      </p:sp>
      <p:sp>
        <p:nvSpPr>
          <p:cNvPr id="11" name="build02 Rounded Rectangle 10"/>
          <p:cNvSpPr/>
          <p:nvPr/>
        </p:nvSpPr>
        <p:spPr>
          <a:xfrm>
            <a:off x="548640" y="2788920"/>
            <a:ext cx="7802575" cy="10515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build02 Rectangle 11"/>
          <p:cNvSpPr/>
          <p:nvPr/>
        </p:nvSpPr>
        <p:spPr>
          <a:xfrm>
            <a:off x="548640" y="2953512"/>
            <a:ext cx="64008" cy="722376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build02 TextBox 12"/>
          <p:cNvSpPr txBox="1"/>
          <p:nvPr/>
        </p:nvSpPr>
        <p:spPr>
          <a:xfrm>
            <a:off x="822959" y="2788920"/>
            <a:ext cx="4572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4338CA"/>
                </a:solidFill>
                <a:latin typeface="Arial"/>
              </a:rPr>
              <a:t>2</a:t>
            </a:r>
          </a:p>
        </p:txBody>
      </p:sp>
      <p:sp>
        <p:nvSpPr>
          <p:cNvPr id="14" name="build02 TextBox 13"/>
          <p:cNvSpPr txBox="1"/>
          <p:nvPr/>
        </p:nvSpPr>
        <p:spPr>
          <a:xfrm>
            <a:off x="1371600" y="2788920"/>
            <a:ext cx="6751015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0F172A"/>
                </a:solidFill>
                <a:latin typeface="Arial"/>
              </a:rPr>
              <a:t>Then lost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1600" b="0" i="0">
                <a:solidFill>
                  <a:srgbClr val="475569"/>
                </a:solidFill>
                <a:latin typeface="Arial"/>
              </a:rPr>
              <a:t>The knowledge stays in one person's head or disappears in a chat thread.</a:t>
            </a:r>
          </a:p>
        </p:txBody>
      </p:sp>
      <p:sp>
        <p:nvSpPr>
          <p:cNvPr id="15" name="build03 Rounded Rectangle 14"/>
          <p:cNvSpPr/>
          <p:nvPr/>
        </p:nvSpPr>
        <p:spPr>
          <a:xfrm>
            <a:off x="548640" y="3977639"/>
            <a:ext cx="7802575" cy="10515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build03 Rectangle 15"/>
          <p:cNvSpPr/>
          <p:nvPr/>
        </p:nvSpPr>
        <p:spPr>
          <a:xfrm>
            <a:off x="548640" y="4142231"/>
            <a:ext cx="64008" cy="722376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build03 TextBox 16"/>
          <p:cNvSpPr txBox="1"/>
          <p:nvPr/>
        </p:nvSpPr>
        <p:spPr>
          <a:xfrm>
            <a:off x="822959" y="3977639"/>
            <a:ext cx="4572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4338CA"/>
                </a:solidFill>
                <a:latin typeface="Arial"/>
              </a:rPr>
              <a:t>3</a:t>
            </a:r>
          </a:p>
        </p:txBody>
      </p:sp>
      <p:sp>
        <p:nvSpPr>
          <p:cNvPr id="18" name="build03 TextBox 17"/>
          <p:cNvSpPr txBox="1"/>
          <p:nvPr/>
        </p:nvSpPr>
        <p:spPr>
          <a:xfrm>
            <a:off x="1371600" y="3977639"/>
            <a:ext cx="6751015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0F172A"/>
                </a:solidFill>
                <a:latin typeface="Arial"/>
              </a:rPr>
              <a:t>Never shared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1600" b="0" i="0">
                <a:solidFill>
                  <a:srgbClr val="475569"/>
                </a:solidFill>
                <a:latin typeface="Arial"/>
              </a:rPr>
              <a:t>Nobody has time to turn it into something the whole company can install in one step.</a:t>
            </a:r>
          </a:p>
        </p:txBody>
      </p:sp>
      <p:sp>
        <p:nvSpPr>
          <p:cNvPr id="19" name="build04 Rounded Rectangle 18"/>
          <p:cNvSpPr/>
          <p:nvPr/>
        </p:nvSpPr>
        <p:spPr>
          <a:xfrm>
            <a:off x="548640" y="5257800"/>
            <a:ext cx="7802575" cy="777240"/>
          </a:xfrm>
          <a:prstGeom prst="roundRect">
            <a:avLst>
              <a:gd name="adj" fmla="val 6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build04 TextBox 19"/>
          <p:cNvSpPr txBox="1"/>
          <p:nvPr/>
        </p:nvSpPr>
        <p:spPr>
          <a:xfrm>
            <a:off x="868680" y="5257800"/>
            <a:ext cx="7162495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4338CA"/>
                </a:solidFill>
                <a:latin typeface="Arial"/>
              </a:rPr>
              <a:t>DevExAI's answer: </a:t>
            </a:r>
            <a:r>
              <a:rPr sz="1800" b="0" i="0">
                <a:solidFill>
                  <a:srgbClr val="0F172A"/>
                </a:solidFill>
                <a:latin typeface="Arial"/>
              </a:rPr>
              <a:t>a chat bot that turns a shared idea into a safe, reviewed tool everyone installs with one command.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4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8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2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/>
      <p:bldP spid="10" grpId="0"/>
      <p:bldP spid="11" grpId="0" animBg="1"/>
      <p:bldP spid="12" grpId="0" animBg="1"/>
      <p:bldP spid="13" grpId="0"/>
      <p:bldP spid="14" grpId="0"/>
      <p:bldP spid="15" grpId="0" animBg="1"/>
      <p:bldP spid="16" grpId="0" animBg="1"/>
      <p:bldP spid="17" grpId="0"/>
      <p:bldP spid="18" grpId="0"/>
      <p:bldP spid="19" grpId="0" animBg="1"/>
      <p:bldP spid="2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4338CA"/>
                </a:solidFill>
                <a:latin typeface="Arial"/>
              </a:rPr>
              <a:t>02 · 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0F172A"/>
                </a:solidFill>
                <a:latin typeface="Arial"/>
              </a:rPr>
              <a:t>From a chat message to a ready tool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 i="0">
                <a:solidFill>
                  <a:srgbClr val="475569"/>
                </a:solidFill>
                <a:latin typeface="Arial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475569"/>
                </a:solidFill>
                <a:latin typeface="Arial"/>
              </a:rPr>
              <a:t>DevExAI · proposal draft</a:t>
            </a:r>
          </a:p>
        </p:txBody>
      </p:sp>
      <p:sp>
        <p:nvSpPr>
          <p:cNvPr id="6" name="build01 Rounded Rectangle 5"/>
          <p:cNvSpPr/>
          <p:nvPr/>
        </p:nvSpPr>
        <p:spPr>
          <a:xfrm>
            <a:off x="548640" y="1645920"/>
            <a:ext cx="1481328" cy="25146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build01 Rectangle 6"/>
          <p:cNvSpPr/>
          <p:nvPr/>
        </p:nvSpPr>
        <p:spPr>
          <a:xfrm>
            <a:off x="548640" y="1645920"/>
            <a:ext cx="1481328" cy="82296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build01 TextBox 7"/>
          <p:cNvSpPr txBox="1"/>
          <p:nvPr/>
        </p:nvSpPr>
        <p:spPr>
          <a:xfrm>
            <a:off x="713232" y="1874519"/>
            <a:ext cx="12070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4338CA"/>
                </a:solidFill>
                <a:latin typeface="Arial"/>
              </a:rPr>
              <a:t>1</a:t>
            </a:r>
          </a:p>
        </p:txBody>
      </p:sp>
      <p:sp>
        <p:nvSpPr>
          <p:cNvPr id="9" name="build01 TextBox 8"/>
          <p:cNvSpPr txBox="1"/>
          <p:nvPr/>
        </p:nvSpPr>
        <p:spPr>
          <a:xfrm>
            <a:off x="713232" y="2331720"/>
            <a:ext cx="12070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0F172A"/>
                </a:solidFill>
                <a:latin typeface="Arial"/>
              </a:rPr>
              <a:t>Idea</a:t>
            </a:r>
          </a:p>
        </p:txBody>
      </p:sp>
      <p:sp>
        <p:nvSpPr>
          <p:cNvPr id="10" name="build01 TextBox 9"/>
          <p:cNvSpPr txBox="1"/>
          <p:nvPr/>
        </p:nvSpPr>
        <p:spPr>
          <a:xfrm>
            <a:off x="713232" y="2788920"/>
            <a:ext cx="1207008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75569"/>
                </a:solidFill>
                <a:latin typeface="Arial"/>
              </a:rPr>
              <a:t>Any colleague posts text or links in chat.</a:t>
            </a:r>
          </a:p>
        </p:txBody>
      </p:sp>
      <p:sp>
        <p:nvSpPr>
          <p:cNvPr id="11" name="build01 Right Arrow 10"/>
          <p:cNvSpPr/>
          <p:nvPr/>
        </p:nvSpPr>
        <p:spPr>
          <a:xfrm>
            <a:off x="2103120" y="2743200"/>
            <a:ext cx="292608" cy="292608"/>
          </a:xfrm>
          <a:prstGeom prst="right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build02 Rounded Rectangle 11"/>
          <p:cNvSpPr/>
          <p:nvPr/>
        </p:nvSpPr>
        <p:spPr>
          <a:xfrm>
            <a:off x="2468880" y="1645920"/>
            <a:ext cx="1481328" cy="25146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build02 Rectangle 12"/>
          <p:cNvSpPr/>
          <p:nvPr/>
        </p:nvSpPr>
        <p:spPr>
          <a:xfrm>
            <a:off x="2468880" y="1645920"/>
            <a:ext cx="1481328" cy="82296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build02 TextBox 13"/>
          <p:cNvSpPr txBox="1"/>
          <p:nvPr/>
        </p:nvSpPr>
        <p:spPr>
          <a:xfrm>
            <a:off x="2633472" y="1874519"/>
            <a:ext cx="12070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B91C1C"/>
                </a:solidFill>
                <a:latin typeface="Arial"/>
              </a:rPr>
              <a:t>2</a:t>
            </a:r>
          </a:p>
        </p:txBody>
      </p:sp>
      <p:sp>
        <p:nvSpPr>
          <p:cNvPr id="15" name="build02 TextBox 14"/>
          <p:cNvSpPr txBox="1"/>
          <p:nvPr/>
        </p:nvSpPr>
        <p:spPr>
          <a:xfrm>
            <a:off x="2633472" y="2331720"/>
            <a:ext cx="12070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0F172A"/>
                </a:solidFill>
                <a:latin typeface="Arial"/>
              </a:rPr>
              <a:t>Safety gate</a:t>
            </a:r>
          </a:p>
        </p:txBody>
      </p:sp>
      <p:sp>
        <p:nvSpPr>
          <p:cNvPr id="16" name="build02 TextBox 15"/>
          <p:cNvSpPr txBox="1"/>
          <p:nvPr/>
        </p:nvSpPr>
        <p:spPr>
          <a:xfrm>
            <a:off x="2633472" y="2788920"/>
            <a:ext cx="1207008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75569"/>
                </a:solidFill>
                <a:latin typeface="Arial"/>
              </a:rPr>
              <a:t>Strict check before any work starts.</a:t>
            </a:r>
          </a:p>
        </p:txBody>
      </p:sp>
      <p:sp>
        <p:nvSpPr>
          <p:cNvPr id="17" name="build02 Right Arrow 16"/>
          <p:cNvSpPr/>
          <p:nvPr/>
        </p:nvSpPr>
        <p:spPr>
          <a:xfrm>
            <a:off x="4023360" y="2743200"/>
            <a:ext cx="292608" cy="292608"/>
          </a:xfrm>
          <a:prstGeom prst="right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build03 Rounded Rectangle 17"/>
          <p:cNvSpPr/>
          <p:nvPr/>
        </p:nvSpPr>
        <p:spPr>
          <a:xfrm>
            <a:off x="4389120" y="1645920"/>
            <a:ext cx="1481328" cy="25146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build03 Rectangle 18"/>
          <p:cNvSpPr/>
          <p:nvPr/>
        </p:nvSpPr>
        <p:spPr>
          <a:xfrm>
            <a:off x="4389120" y="1645920"/>
            <a:ext cx="1481328" cy="82296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build03 TextBox 19"/>
          <p:cNvSpPr txBox="1"/>
          <p:nvPr/>
        </p:nvSpPr>
        <p:spPr>
          <a:xfrm>
            <a:off x="4553712" y="1874519"/>
            <a:ext cx="12070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4338CA"/>
                </a:solidFill>
                <a:latin typeface="Arial"/>
              </a:rPr>
              <a:t>3</a:t>
            </a:r>
          </a:p>
        </p:txBody>
      </p:sp>
      <p:sp>
        <p:nvSpPr>
          <p:cNvPr id="21" name="build03 TextBox 20"/>
          <p:cNvSpPr txBox="1"/>
          <p:nvPr/>
        </p:nvSpPr>
        <p:spPr>
          <a:xfrm>
            <a:off x="4553712" y="2331720"/>
            <a:ext cx="12070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0F172A"/>
                </a:solidFill>
                <a:latin typeface="Arial"/>
              </a:rPr>
              <a:t>Plan</a:t>
            </a:r>
          </a:p>
        </p:txBody>
      </p:sp>
      <p:sp>
        <p:nvSpPr>
          <p:cNvPr id="22" name="build03 TextBox 21"/>
          <p:cNvSpPr txBox="1"/>
          <p:nvPr/>
        </p:nvSpPr>
        <p:spPr>
          <a:xfrm>
            <a:off x="4553712" y="2788920"/>
            <a:ext cx="1207008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75569"/>
                </a:solidFill>
                <a:latin typeface="Arial"/>
              </a:rPr>
              <a:t>Claude Opus researches with our project context.</a:t>
            </a:r>
          </a:p>
        </p:txBody>
      </p:sp>
      <p:sp>
        <p:nvSpPr>
          <p:cNvPr id="23" name="build03 Right Arrow 22"/>
          <p:cNvSpPr/>
          <p:nvPr/>
        </p:nvSpPr>
        <p:spPr>
          <a:xfrm>
            <a:off x="5943600" y="2743200"/>
            <a:ext cx="292608" cy="292608"/>
          </a:xfrm>
          <a:prstGeom prst="right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build04 Rounded Rectangle 23"/>
          <p:cNvSpPr/>
          <p:nvPr/>
        </p:nvSpPr>
        <p:spPr>
          <a:xfrm>
            <a:off x="6309360" y="1645920"/>
            <a:ext cx="1481328" cy="25146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build04 Rectangle 24"/>
          <p:cNvSpPr/>
          <p:nvPr/>
        </p:nvSpPr>
        <p:spPr>
          <a:xfrm>
            <a:off x="6309360" y="1645920"/>
            <a:ext cx="1481328" cy="82296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build04 TextBox 25"/>
          <p:cNvSpPr txBox="1"/>
          <p:nvPr/>
        </p:nvSpPr>
        <p:spPr>
          <a:xfrm>
            <a:off x="6473952" y="1874519"/>
            <a:ext cx="12070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4338CA"/>
                </a:solidFill>
                <a:latin typeface="Arial"/>
              </a:rPr>
              <a:t>4</a:t>
            </a:r>
          </a:p>
        </p:txBody>
      </p:sp>
      <p:sp>
        <p:nvSpPr>
          <p:cNvPr id="27" name="build04 TextBox 26"/>
          <p:cNvSpPr txBox="1"/>
          <p:nvPr/>
        </p:nvSpPr>
        <p:spPr>
          <a:xfrm>
            <a:off x="6473952" y="2331720"/>
            <a:ext cx="12070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0F172A"/>
                </a:solidFill>
                <a:latin typeface="Arial"/>
              </a:rPr>
              <a:t>Build</a:t>
            </a:r>
          </a:p>
        </p:txBody>
      </p:sp>
      <p:sp>
        <p:nvSpPr>
          <p:cNvPr id="28" name="build04 TextBox 27"/>
          <p:cNvSpPr txBox="1"/>
          <p:nvPr/>
        </p:nvSpPr>
        <p:spPr>
          <a:xfrm>
            <a:off x="6473952" y="2788920"/>
            <a:ext cx="1207008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75569"/>
                </a:solidFill>
                <a:latin typeface="Arial"/>
              </a:rPr>
              <a:t>The builder AI writes the code, tests and README.</a:t>
            </a:r>
          </a:p>
        </p:txBody>
      </p:sp>
      <p:sp>
        <p:nvSpPr>
          <p:cNvPr id="29" name="build04 Right Arrow 28"/>
          <p:cNvSpPr/>
          <p:nvPr/>
        </p:nvSpPr>
        <p:spPr>
          <a:xfrm>
            <a:off x="7863840" y="2743200"/>
            <a:ext cx="292608" cy="292608"/>
          </a:xfrm>
          <a:prstGeom prst="right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build05 Rounded Rectangle 29"/>
          <p:cNvSpPr/>
          <p:nvPr/>
        </p:nvSpPr>
        <p:spPr>
          <a:xfrm>
            <a:off x="8229600" y="1645920"/>
            <a:ext cx="1481328" cy="25146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build05 Rectangle 30"/>
          <p:cNvSpPr/>
          <p:nvPr/>
        </p:nvSpPr>
        <p:spPr>
          <a:xfrm>
            <a:off x="8229600" y="1645920"/>
            <a:ext cx="1481328" cy="82296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build05 TextBox 31"/>
          <p:cNvSpPr txBox="1"/>
          <p:nvPr/>
        </p:nvSpPr>
        <p:spPr>
          <a:xfrm>
            <a:off x="8394192" y="1874519"/>
            <a:ext cx="12070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4338CA"/>
                </a:solidFill>
                <a:latin typeface="Arial"/>
              </a:rPr>
              <a:t>5</a:t>
            </a:r>
          </a:p>
        </p:txBody>
      </p:sp>
      <p:sp>
        <p:nvSpPr>
          <p:cNvPr id="33" name="build05 TextBox 32"/>
          <p:cNvSpPr txBox="1"/>
          <p:nvPr/>
        </p:nvSpPr>
        <p:spPr>
          <a:xfrm>
            <a:off x="8394192" y="2331720"/>
            <a:ext cx="12070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0F172A"/>
                </a:solidFill>
                <a:latin typeface="Arial"/>
              </a:rPr>
              <a:t>Review</a:t>
            </a:r>
          </a:p>
        </p:txBody>
      </p:sp>
      <p:sp>
        <p:nvSpPr>
          <p:cNvPr id="34" name="build05 TextBox 33"/>
          <p:cNvSpPr txBox="1"/>
          <p:nvPr/>
        </p:nvSpPr>
        <p:spPr>
          <a:xfrm>
            <a:off x="8394192" y="2788920"/>
            <a:ext cx="1207008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75569"/>
                </a:solidFill>
                <a:latin typeface="Arial"/>
              </a:rPr>
              <a:t>Opus reviews every line; a human approves.</a:t>
            </a:r>
          </a:p>
        </p:txBody>
      </p:sp>
      <p:sp>
        <p:nvSpPr>
          <p:cNvPr id="35" name="build05 Right Arrow 34"/>
          <p:cNvSpPr/>
          <p:nvPr/>
        </p:nvSpPr>
        <p:spPr>
          <a:xfrm>
            <a:off x="9784080" y="2743200"/>
            <a:ext cx="292608" cy="292608"/>
          </a:xfrm>
          <a:prstGeom prst="right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build06 Rounded Rectangle 35"/>
          <p:cNvSpPr/>
          <p:nvPr/>
        </p:nvSpPr>
        <p:spPr>
          <a:xfrm>
            <a:off x="10149840" y="1645920"/>
            <a:ext cx="1481328" cy="25146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build06 Rectangle 36"/>
          <p:cNvSpPr/>
          <p:nvPr/>
        </p:nvSpPr>
        <p:spPr>
          <a:xfrm>
            <a:off x="10149840" y="1645920"/>
            <a:ext cx="1481328" cy="8229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build06 TextBox 37"/>
          <p:cNvSpPr txBox="1"/>
          <p:nvPr/>
        </p:nvSpPr>
        <p:spPr>
          <a:xfrm>
            <a:off x="10314432" y="1874519"/>
            <a:ext cx="12070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0F766E"/>
                </a:solidFill>
                <a:latin typeface="Arial"/>
              </a:rPr>
              <a:t>6</a:t>
            </a:r>
          </a:p>
        </p:txBody>
      </p:sp>
      <p:sp>
        <p:nvSpPr>
          <p:cNvPr id="39" name="build06 TextBox 38"/>
          <p:cNvSpPr txBox="1"/>
          <p:nvPr/>
        </p:nvSpPr>
        <p:spPr>
          <a:xfrm>
            <a:off x="10314432" y="2331720"/>
            <a:ext cx="12070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0F172A"/>
                </a:solidFill>
                <a:latin typeface="Arial"/>
              </a:rPr>
              <a:t>Publish</a:t>
            </a:r>
          </a:p>
        </p:txBody>
      </p:sp>
      <p:sp>
        <p:nvSpPr>
          <p:cNvPr id="40" name="build06 TextBox 39"/>
          <p:cNvSpPr txBox="1"/>
          <p:nvPr/>
        </p:nvSpPr>
        <p:spPr>
          <a:xfrm>
            <a:off x="10314432" y="2788920"/>
            <a:ext cx="1207008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75569"/>
                </a:solidFill>
                <a:latin typeface="Arial"/>
              </a:rPr>
              <a:t>Short post with install steps; idea credited.</a:t>
            </a:r>
          </a:p>
        </p:txBody>
      </p:sp>
      <p:sp>
        <p:nvSpPr>
          <p:cNvPr id="41" name="build07 Rounded Rectangle 40"/>
          <p:cNvSpPr/>
          <p:nvPr/>
        </p:nvSpPr>
        <p:spPr>
          <a:xfrm>
            <a:off x="548640" y="4663440"/>
            <a:ext cx="3545738" cy="594360"/>
          </a:xfrm>
          <a:prstGeom prst="roundRect">
            <a:avLst>
              <a:gd name="adj" fmla="val 30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build07 TextBox 41"/>
          <p:cNvSpPr txBox="1"/>
          <p:nvPr/>
        </p:nvSpPr>
        <p:spPr>
          <a:xfrm>
            <a:off x="621792" y="4663440"/>
            <a:ext cx="3399434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 i="0">
                <a:solidFill>
                  <a:srgbClr val="4338CA"/>
                </a:solidFill>
                <a:latin typeface="Arial"/>
              </a:rPr>
              <a:t>Opus plans and reviews</a:t>
            </a:r>
          </a:p>
        </p:txBody>
      </p:sp>
      <p:sp>
        <p:nvSpPr>
          <p:cNvPr id="43" name="build07 Rounded Rectangle 42"/>
          <p:cNvSpPr/>
          <p:nvPr/>
        </p:nvSpPr>
        <p:spPr>
          <a:xfrm>
            <a:off x="4322978" y="4663440"/>
            <a:ext cx="3545738" cy="594360"/>
          </a:xfrm>
          <a:prstGeom prst="roundRect">
            <a:avLst>
              <a:gd name="adj" fmla="val 30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build07 TextBox 43"/>
          <p:cNvSpPr txBox="1"/>
          <p:nvPr/>
        </p:nvSpPr>
        <p:spPr>
          <a:xfrm>
            <a:off x="4396130" y="4663440"/>
            <a:ext cx="3399434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 i="0">
                <a:solidFill>
                  <a:srgbClr val="4338CA"/>
                </a:solidFill>
                <a:latin typeface="Arial"/>
              </a:rPr>
              <a:t>No release without a human yes</a:t>
            </a:r>
          </a:p>
        </p:txBody>
      </p:sp>
      <p:sp>
        <p:nvSpPr>
          <p:cNvPr id="45" name="build07 Rounded Rectangle 44"/>
          <p:cNvSpPr/>
          <p:nvPr/>
        </p:nvSpPr>
        <p:spPr>
          <a:xfrm>
            <a:off x="8097316" y="4663440"/>
            <a:ext cx="3545738" cy="594360"/>
          </a:xfrm>
          <a:prstGeom prst="roundRect">
            <a:avLst>
              <a:gd name="adj" fmla="val 30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build07 TextBox 45"/>
          <p:cNvSpPr txBox="1"/>
          <p:nvPr/>
        </p:nvSpPr>
        <p:spPr>
          <a:xfrm>
            <a:off x="8170468" y="4663440"/>
            <a:ext cx="3399434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 i="0">
                <a:solidFill>
                  <a:srgbClr val="4338CA"/>
                </a:solidFill>
                <a:latin typeface="Arial"/>
              </a:rPr>
              <a:t>The poster is named in the post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8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2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600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2400"/>
                            </p:stCondLst>
                            <p:childTnLst>
                              <p:par>
                                <p:cTn id="1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/>
      <p:bldP spid="9" grpId="0"/>
      <p:bldP spid="10" grpId="0"/>
      <p:bldP spid="11" grpId="0" animBg="1"/>
      <p:bldP spid="12" grpId="0" animBg="1"/>
      <p:bldP spid="13" grpId="0" animBg="1"/>
      <p:bldP spid="14" grpId="0"/>
      <p:bldP spid="15" grpId="0"/>
      <p:bldP spid="16" grpId="0"/>
      <p:bldP spid="17" grpId="0" animBg="1"/>
      <p:bldP spid="18" grpId="0" animBg="1"/>
      <p:bldP spid="19" grpId="0" animBg="1"/>
      <p:bldP spid="20" grpId="0"/>
      <p:bldP spid="21" grpId="0"/>
      <p:bldP spid="22" grpId="0"/>
      <p:bldP spid="23" grpId="0" animBg="1"/>
      <p:bldP spid="24" grpId="0" animBg="1"/>
      <p:bldP spid="25" grpId="0" animBg="1"/>
      <p:bldP spid="26" grpId="0"/>
      <p:bldP spid="27" grpId="0"/>
      <p:bldP spid="28" grpId="0"/>
      <p:bldP spid="29" grpId="0" animBg="1"/>
      <p:bldP spid="30" grpId="0" animBg="1"/>
      <p:bldP spid="31" grpId="0" animBg="1"/>
      <p:bldP spid="32" grpId="0"/>
      <p:bldP spid="33" grpId="0"/>
      <p:bldP spid="34" grpId="0"/>
      <p:bldP spid="35" grpId="0" animBg="1"/>
      <p:bldP spid="36" grpId="0" animBg="1"/>
      <p:bldP spid="37" grpId="0" animBg="1"/>
      <p:bldP spid="38" grpId="0"/>
      <p:bldP spid="39" grpId="0"/>
      <p:bldP spid="40" grpId="0"/>
      <p:bldP spid="41" grpId="0" animBg="1"/>
      <p:bldP spid="42" grpId="0"/>
      <p:bldP spid="43" grpId="0" animBg="1"/>
      <p:bldP spid="44" grpId="0"/>
      <p:bldP spid="45" grpId="0" animBg="1"/>
      <p:bldP spid="4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4338CA"/>
                </a:solidFill>
                <a:latin typeface="Arial"/>
              </a:rPr>
              <a:t>03 · WHO IS INVOLVED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0F172A"/>
                </a:solidFill>
                <a:latin typeface="Arial"/>
              </a:rPr>
              <a:t>Four roles, one thread per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 i="0">
                <a:solidFill>
                  <a:srgbClr val="475569"/>
                </a:solidFill>
                <a:latin typeface="Arial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475569"/>
                </a:solidFill>
                <a:latin typeface="Arial"/>
              </a:rPr>
              <a:t>DevExAI · proposal draft</a:t>
            </a:r>
          </a:p>
        </p:txBody>
      </p:sp>
      <p:sp>
        <p:nvSpPr>
          <p:cNvPr id="6" name="build01 Rounded Rectangle 5"/>
          <p:cNvSpPr/>
          <p:nvPr/>
        </p:nvSpPr>
        <p:spPr>
          <a:xfrm>
            <a:off x="548640" y="1600200"/>
            <a:ext cx="2567863" cy="233172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build01 Rectangle 6"/>
          <p:cNvSpPr/>
          <p:nvPr/>
        </p:nvSpPr>
        <p:spPr>
          <a:xfrm>
            <a:off x="548640" y="1764792"/>
            <a:ext cx="64008" cy="2002536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build01 TextBox 7"/>
          <p:cNvSpPr txBox="1"/>
          <p:nvPr/>
        </p:nvSpPr>
        <p:spPr>
          <a:xfrm>
            <a:off x="822959" y="1783080"/>
            <a:ext cx="2110663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0F172A"/>
                </a:solidFill>
                <a:latin typeface="Arial"/>
              </a:rPr>
              <a:t>Poster</a:t>
            </a:r>
          </a:p>
        </p:txBody>
      </p:sp>
      <p:sp>
        <p:nvSpPr>
          <p:cNvPr id="9" name="build01 TextBox 8"/>
          <p:cNvSpPr txBox="1"/>
          <p:nvPr/>
        </p:nvSpPr>
        <p:spPr>
          <a:xfrm>
            <a:off x="822959" y="2240280"/>
            <a:ext cx="2110663" cy="16001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75569"/>
                </a:solidFill>
                <a:latin typeface="Arial"/>
              </a:rPr>
              <a:t>Any colleague. Sends an idea — text, links, or both — to the bot.</a:t>
            </a:r>
          </a:p>
        </p:txBody>
      </p:sp>
      <p:sp>
        <p:nvSpPr>
          <p:cNvPr id="10" name="build02 Rounded Rectangle 9"/>
          <p:cNvSpPr/>
          <p:nvPr/>
        </p:nvSpPr>
        <p:spPr>
          <a:xfrm>
            <a:off x="3390823" y="1600200"/>
            <a:ext cx="2567863" cy="233172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build02 Rectangle 10"/>
          <p:cNvSpPr/>
          <p:nvPr/>
        </p:nvSpPr>
        <p:spPr>
          <a:xfrm>
            <a:off x="3390823" y="1764792"/>
            <a:ext cx="64008" cy="2002536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build02 TextBox 11"/>
          <p:cNvSpPr txBox="1"/>
          <p:nvPr/>
        </p:nvSpPr>
        <p:spPr>
          <a:xfrm>
            <a:off x="3665143" y="1783080"/>
            <a:ext cx="2110663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0F172A"/>
                </a:solidFill>
                <a:latin typeface="Arial"/>
              </a:rPr>
              <a:t>Maintainers</a:t>
            </a:r>
          </a:p>
        </p:txBody>
      </p:sp>
      <p:sp>
        <p:nvSpPr>
          <p:cNvPr id="13" name="build02 TextBox 12"/>
          <p:cNvSpPr txBox="1"/>
          <p:nvPr/>
        </p:nvSpPr>
        <p:spPr>
          <a:xfrm>
            <a:off x="3665143" y="2240280"/>
            <a:ext cx="2110663" cy="16001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75569"/>
                </a:solidFill>
                <a:latin typeface="Arial"/>
              </a:rPr>
              <a:t>A small group. Approve plans, paid resources and releases, decide unsure cases, own the project summaries. Admins add them in the dashboard.</a:t>
            </a:r>
          </a:p>
        </p:txBody>
      </p:sp>
      <p:sp>
        <p:nvSpPr>
          <p:cNvPr id="14" name="build03 Rounded Rectangle 13"/>
          <p:cNvSpPr/>
          <p:nvPr/>
        </p:nvSpPr>
        <p:spPr>
          <a:xfrm>
            <a:off x="6233007" y="1600200"/>
            <a:ext cx="2567863" cy="233172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build03 Rectangle 14"/>
          <p:cNvSpPr/>
          <p:nvPr/>
        </p:nvSpPr>
        <p:spPr>
          <a:xfrm>
            <a:off x="6233007" y="1764792"/>
            <a:ext cx="64008" cy="2002536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build03 TextBox 15"/>
          <p:cNvSpPr txBox="1"/>
          <p:nvPr/>
        </p:nvSpPr>
        <p:spPr>
          <a:xfrm>
            <a:off x="6507327" y="1783080"/>
            <a:ext cx="2110663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0F172A"/>
                </a:solidFill>
                <a:latin typeface="Arial"/>
              </a:rPr>
              <a:t>The bot</a:t>
            </a:r>
          </a:p>
        </p:txBody>
      </p:sp>
      <p:sp>
        <p:nvSpPr>
          <p:cNvPr id="17" name="build03 TextBox 16"/>
          <p:cNvSpPr txBox="1"/>
          <p:nvPr/>
        </p:nvSpPr>
        <p:spPr>
          <a:xfrm>
            <a:off x="6507327" y="2240280"/>
            <a:ext cx="2110663" cy="16001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75569"/>
                </a:solidFill>
                <a:latin typeface="Arial"/>
              </a:rPr>
              <a:t>Safety check, research, planning, building, testing, publishing and every update.</a:t>
            </a:r>
          </a:p>
        </p:txBody>
      </p:sp>
      <p:sp>
        <p:nvSpPr>
          <p:cNvPr id="18" name="build04 Rounded Rectangle 17"/>
          <p:cNvSpPr/>
          <p:nvPr/>
        </p:nvSpPr>
        <p:spPr>
          <a:xfrm>
            <a:off x="9075191" y="1600200"/>
            <a:ext cx="2567863" cy="233172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build04 Rectangle 18"/>
          <p:cNvSpPr/>
          <p:nvPr/>
        </p:nvSpPr>
        <p:spPr>
          <a:xfrm>
            <a:off x="9075191" y="1764792"/>
            <a:ext cx="64008" cy="2002536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build04 TextBox 19"/>
          <p:cNvSpPr txBox="1"/>
          <p:nvPr/>
        </p:nvSpPr>
        <p:spPr>
          <a:xfrm>
            <a:off x="9349511" y="1783080"/>
            <a:ext cx="2110663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0F172A"/>
                </a:solidFill>
                <a:latin typeface="Arial"/>
              </a:rPr>
              <a:t>Readers</a:t>
            </a:r>
          </a:p>
        </p:txBody>
      </p:sp>
      <p:sp>
        <p:nvSpPr>
          <p:cNvPr id="21" name="build04 TextBox 20"/>
          <p:cNvSpPr txBox="1"/>
          <p:nvPr/>
        </p:nvSpPr>
        <p:spPr>
          <a:xfrm>
            <a:off x="9349511" y="2240280"/>
            <a:ext cx="2110663" cy="16001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75569"/>
                </a:solidFill>
                <a:latin typeface="Arial"/>
              </a:rPr>
              <a:t>Everyone. Read the post and install the tool for a project or their whole machine.</a:t>
            </a:r>
          </a:p>
        </p:txBody>
      </p:sp>
      <p:sp>
        <p:nvSpPr>
          <p:cNvPr id="22" name="build05 TextBox 21"/>
          <p:cNvSpPr txBox="1"/>
          <p:nvPr/>
        </p:nvSpPr>
        <p:spPr>
          <a:xfrm>
            <a:off x="548640" y="4206240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0F172A"/>
                </a:solidFill>
                <a:latin typeface="Arial"/>
              </a:rPr>
              <a:t>Picking a maintainer for each idea</a:t>
            </a:r>
          </a:p>
        </p:txBody>
      </p:sp>
      <p:sp>
        <p:nvSpPr>
          <p:cNvPr id="23" name="build05 Rounded Rectangle 22"/>
          <p:cNvSpPr/>
          <p:nvPr/>
        </p:nvSpPr>
        <p:spPr>
          <a:xfrm>
            <a:off x="548640" y="4709160"/>
            <a:ext cx="3291840" cy="731520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build05 TextBox 23"/>
          <p:cNvSpPr txBox="1"/>
          <p:nvPr/>
        </p:nvSpPr>
        <p:spPr>
          <a:xfrm>
            <a:off x="621792" y="4709160"/>
            <a:ext cx="3145536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0" i="0">
                <a:solidFill>
                  <a:srgbClr val="1E293B"/>
                </a:solidFill>
                <a:latin typeface="Arial"/>
              </a:rPr>
              <a:t>Topic match (e.g. Android, backend, security)</a:t>
            </a:r>
          </a:p>
        </p:txBody>
      </p:sp>
      <p:sp>
        <p:nvSpPr>
          <p:cNvPr id="25" name="build05 Right Arrow 24"/>
          <p:cNvSpPr/>
          <p:nvPr/>
        </p:nvSpPr>
        <p:spPr>
          <a:xfrm>
            <a:off x="3931920" y="4937760"/>
            <a:ext cx="256032" cy="274320"/>
          </a:xfrm>
          <a:prstGeom prst="right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build05 Rounded Rectangle 25"/>
          <p:cNvSpPr/>
          <p:nvPr/>
        </p:nvSpPr>
        <p:spPr>
          <a:xfrm>
            <a:off x="4279392" y="4709160"/>
            <a:ext cx="2377440" cy="731520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build05 TextBox 26"/>
          <p:cNvSpPr txBox="1"/>
          <p:nvPr/>
        </p:nvSpPr>
        <p:spPr>
          <a:xfrm>
            <a:off x="4352544" y="4709160"/>
            <a:ext cx="2231136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0" i="0">
                <a:solidFill>
                  <a:srgbClr val="1E293B"/>
                </a:solidFill>
                <a:latin typeface="Arial"/>
              </a:rPr>
              <a:t>Otherwise round-robin</a:t>
            </a:r>
          </a:p>
        </p:txBody>
      </p:sp>
      <p:sp>
        <p:nvSpPr>
          <p:cNvPr id="28" name="build05 Right Arrow 27"/>
          <p:cNvSpPr/>
          <p:nvPr/>
        </p:nvSpPr>
        <p:spPr>
          <a:xfrm>
            <a:off x="6748271" y="4937760"/>
            <a:ext cx="256032" cy="274320"/>
          </a:xfrm>
          <a:prstGeom prst="right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build05 Rounded Rectangle 28"/>
          <p:cNvSpPr/>
          <p:nvPr/>
        </p:nvSpPr>
        <p:spPr>
          <a:xfrm>
            <a:off x="7095744" y="4709160"/>
            <a:ext cx="4572000" cy="731520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build05 TextBox 29"/>
          <p:cNvSpPr txBox="1"/>
          <p:nvPr/>
        </p:nvSpPr>
        <p:spPr>
          <a:xfrm>
            <a:off x="7168896" y="4709160"/>
            <a:ext cx="4425696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0" i="0">
                <a:solidFill>
                  <a:srgbClr val="1E293B"/>
                </a:solidFill>
                <a:latin typeface="Arial"/>
              </a:rPr>
              <a:t>No reply within 24 hours → next maintainer, everyone told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4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8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2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6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/>
      <p:bldP spid="9" grpId="0"/>
      <p:bldP spid="10" grpId="0" animBg="1"/>
      <p:bldP spid="11" grpId="0" animBg="1"/>
      <p:bldP spid="12" grpId="0"/>
      <p:bldP spid="13" grpId="0"/>
      <p:bldP spid="14" grpId="0" animBg="1"/>
      <p:bldP spid="15" grpId="0" animBg="1"/>
      <p:bldP spid="16" grpId="0"/>
      <p:bldP spid="17" grpId="0"/>
      <p:bldP spid="18" grpId="0" animBg="1"/>
      <p:bldP spid="19" grpId="0" animBg="1"/>
      <p:bldP spid="20" grpId="0"/>
      <p:bldP spid="21" grpId="0"/>
      <p:bldP spid="22" grpId="0"/>
      <p:bldP spid="23" grpId="0" animBg="1"/>
      <p:bldP spid="24" grpId="0"/>
      <p:bldP spid="25" grpId="0" animBg="1"/>
      <p:bldP spid="26" grpId="0" animBg="1"/>
      <p:bldP spid="27" grpId="0"/>
      <p:bldP spid="28" grpId="0" animBg="1"/>
      <p:bldP spid="29" grpId="0" animBg="1"/>
      <p:bldP spid="3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4338CA"/>
                </a:solidFill>
                <a:latin typeface="Arial"/>
              </a:rPr>
              <a:t>04 · HOW AN IDEA TRAVELS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0F172A"/>
                </a:solidFill>
                <a:latin typeface="Arial"/>
              </a:rPr>
              <a:t>Eight steps, all visible in the idea's thread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 i="0">
                <a:solidFill>
                  <a:srgbClr val="475569"/>
                </a:solidFill>
                <a:latin typeface="Arial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475569"/>
                </a:solidFill>
                <a:latin typeface="Arial"/>
              </a:rPr>
              <a:t>DevExAI · proposal draft</a:t>
            </a:r>
          </a:p>
        </p:txBody>
      </p:sp>
      <p:sp>
        <p:nvSpPr>
          <p:cNvPr id="6" name="build01 Rounded Rectangle 5"/>
          <p:cNvSpPr/>
          <p:nvPr/>
        </p:nvSpPr>
        <p:spPr>
          <a:xfrm>
            <a:off x="548640" y="1554480"/>
            <a:ext cx="2602153" cy="20116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build01 Rectangle 6"/>
          <p:cNvSpPr/>
          <p:nvPr/>
        </p:nvSpPr>
        <p:spPr>
          <a:xfrm>
            <a:off x="548640" y="1719072"/>
            <a:ext cx="64008" cy="1682496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build01 TextBox 7"/>
          <p:cNvSpPr txBox="1"/>
          <p:nvPr/>
        </p:nvSpPr>
        <p:spPr>
          <a:xfrm>
            <a:off x="822959" y="1737360"/>
            <a:ext cx="214495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4338CA"/>
                </a:solidFill>
                <a:latin typeface="Arial"/>
              </a:rPr>
              <a:t>Step 0</a:t>
            </a:r>
          </a:p>
        </p:txBody>
      </p:sp>
      <p:sp>
        <p:nvSpPr>
          <p:cNvPr id="9" name="build01 TextBox 8"/>
          <p:cNvSpPr txBox="1"/>
          <p:nvPr/>
        </p:nvSpPr>
        <p:spPr>
          <a:xfrm>
            <a:off x="822959" y="2148840"/>
            <a:ext cx="2144953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0F172A"/>
                </a:solidFill>
                <a:latin typeface="Arial"/>
              </a:rPr>
              <a:t>Submit</a:t>
            </a:r>
          </a:p>
        </p:txBody>
      </p:sp>
      <p:sp>
        <p:nvSpPr>
          <p:cNvPr id="10" name="build01 TextBox 9"/>
          <p:cNvSpPr txBox="1"/>
          <p:nvPr/>
        </p:nvSpPr>
        <p:spPr>
          <a:xfrm>
            <a:off x="822959" y="2606040"/>
            <a:ext cx="2144953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75569"/>
                </a:solidFill>
                <a:latin typeface="Arial"/>
              </a:rPr>
              <a:t>Text and/or links to the bot. Gets a tracking number and a thread.</a:t>
            </a:r>
          </a:p>
        </p:txBody>
      </p:sp>
      <p:sp>
        <p:nvSpPr>
          <p:cNvPr id="11" name="build02 Rounded Rectangle 10"/>
          <p:cNvSpPr/>
          <p:nvPr/>
        </p:nvSpPr>
        <p:spPr>
          <a:xfrm>
            <a:off x="3379393" y="1554480"/>
            <a:ext cx="2602153" cy="20116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build02 Rectangle 11"/>
          <p:cNvSpPr/>
          <p:nvPr/>
        </p:nvSpPr>
        <p:spPr>
          <a:xfrm>
            <a:off x="3379393" y="1719072"/>
            <a:ext cx="64008" cy="1682496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build02 TextBox 12"/>
          <p:cNvSpPr txBox="1"/>
          <p:nvPr/>
        </p:nvSpPr>
        <p:spPr>
          <a:xfrm>
            <a:off x="3653713" y="1737360"/>
            <a:ext cx="214495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B91C1C"/>
                </a:solidFill>
                <a:latin typeface="Arial"/>
              </a:rPr>
              <a:t>Step 1</a:t>
            </a:r>
          </a:p>
        </p:txBody>
      </p:sp>
      <p:sp>
        <p:nvSpPr>
          <p:cNvPr id="14" name="build02 TextBox 13"/>
          <p:cNvSpPr txBox="1"/>
          <p:nvPr/>
        </p:nvSpPr>
        <p:spPr>
          <a:xfrm>
            <a:off x="3653713" y="2148840"/>
            <a:ext cx="2144953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0F172A"/>
                </a:solidFill>
                <a:latin typeface="Arial"/>
              </a:rPr>
              <a:t>Safety gate</a:t>
            </a:r>
          </a:p>
        </p:txBody>
      </p:sp>
      <p:sp>
        <p:nvSpPr>
          <p:cNvPr id="15" name="build02 TextBox 14"/>
          <p:cNvSpPr txBox="1"/>
          <p:nvPr/>
        </p:nvSpPr>
        <p:spPr>
          <a:xfrm>
            <a:off x="3653713" y="2606040"/>
            <a:ext cx="2144953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75569"/>
                </a:solidFill>
                <a:latin typeface="Arial"/>
              </a:rPr>
              <a:t>Nothing starts until the idea and every link pass.</a:t>
            </a:r>
          </a:p>
        </p:txBody>
      </p:sp>
      <p:sp>
        <p:nvSpPr>
          <p:cNvPr id="16" name="build03 Rounded Rectangle 15"/>
          <p:cNvSpPr/>
          <p:nvPr/>
        </p:nvSpPr>
        <p:spPr>
          <a:xfrm>
            <a:off x="6210147" y="1554480"/>
            <a:ext cx="2602153" cy="20116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build03 Rectangle 16"/>
          <p:cNvSpPr/>
          <p:nvPr/>
        </p:nvSpPr>
        <p:spPr>
          <a:xfrm>
            <a:off x="6210147" y="1719072"/>
            <a:ext cx="64008" cy="1682496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build03 TextBox 17"/>
          <p:cNvSpPr txBox="1"/>
          <p:nvPr/>
        </p:nvSpPr>
        <p:spPr>
          <a:xfrm>
            <a:off x="6484467" y="1737360"/>
            <a:ext cx="214495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4338CA"/>
                </a:solidFill>
                <a:latin typeface="Arial"/>
              </a:rPr>
              <a:t>Step 2</a:t>
            </a:r>
          </a:p>
        </p:txBody>
      </p:sp>
      <p:sp>
        <p:nvSpPr>
          <p:cNvPr id="19" name="build03 TextBox 18"/>
          <p:cNvSpPr txBox="1"/>
          <p:nvPr/>
        </p:nvSpPr>
        <p:spPr>
          <a:xfrm>
            <a:off x="6484467" y="2148840"/>
            <a:ext cx="2144953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0F172A"/>
                </a:solidFill>
                <a:latin typeface="Arial"/>
              </a:rPr>
              <a:t>Research</a:t>
            </a:r>
          </a:p>
        </p:txBody>
      </p:sp>
      <p:sp>
        <p:nvSpPr>
          <p:cNvPr id="20" name="build03 TextBox 19"/>
          <p:cNvSpPr txBox="1"/>
          <p:nvPr/>
        </p:nvSpPr>
        <p:spPr>
          <a:xfrm>
            <a:off x="6484467" y="2606040"/>
            <a:ext cx="2144953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75569"/>
                </a:solidFill>
                <a:latin typeface="Arial"/>
              </a:rPr>
              <a:t>Reads links, flags duplicates, uses project summaries.</a:t>
            </a:r>
          </a:p>
        </p:txBody>
      </p:sp>
      <p:sp>
        <p:nvSpPr>
          <p:cNvPr id="21" name="build04 Rounded Rectangle 20"/>
          <p:cNvSpPr/>
          <p:nvPr/>
        </p:nvSpPr>
        <p:spPr>
          <a:xfrm>
            <a:off x="9040901" y="1554480"/>
            <a:ext cx="2602153" cy="20116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build04 Rectangle 21"/>
          <p:cNvSpPr/>
          <p:nvPr/>
        </p:nvSpPr>
        <p:spPr>
          <a:xfrm>
            <a:off x="9040901" y="1719072"/>
            <a:ext cx="64008" cy="1682496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build04 TextBox 22"/>
          <p:cNvSpPr txBox="1"/>
          <p:nvPr/>
        </p:nvSpPr>
        <p:spPr>
          <a:xfrm>
            <a:off x="9315221" y="1737360"/>
            <a:ext cx="214495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4338CA"/>
                </a:solidFill>
                <a:latin typeface="Arial"/>
              </a:rPr>
              <a:t>Step 3</a:t>
            </a:r>
          </a:p>
        </p:txBody>
      </p:sp>
      <p:sp>
        <p:nvSpPr>
          <p:cNvPr id="24" name="build04 TextBox 23"/>
          <p:cNvSpPr txBox="1"/>
          <p:nvPr/>
        </p:nvSpPr>
        <p:spPr>
          <a:xfrm>
            <a:off x="9315221" y="2148840"/>
            <a:ext cx="2144953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0F172A"/>
                </a:solidFill>
                <a:latin typeface="Arial"/>
              </a:rPr>
              <a:t>Plan</a:t>
            </a:r>
          </a:p>
        </p:txBody>
      </p:sp>
      <p:sp>
        <p:nvSpPr>
          <p:cNvPr id="25" name="build04 TextBox 24"/>
          <p:cNvSpPr txBox="1"/>
          <p:nvPr/>
        </p:nvSpPr>
        <p:spPr>
          <a:xfrm>
            <a:off x="9315221" y="2606040"/>
            <a:ext cx="2144953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75569"/>
                </a:solidFill>
                <a:latin typeface="Arial"/>
              </a:rPr>
              <a:t>Claude Opus posts a plain-language plan in the thread.</a:t>
            </a:r>
          </a:p>
        </p:txBody>
      </p:sp>
      <p:sp>
        <p:nvSpPr>
          <p:cNvPr id="26" name="build05 Rounded Rectangle 25"/>
          <p:cNvSpPr/>
          <p:nvPr/>
        </p:nvSpPr>
        <p:spPr>
          <a:xfrm>
            <a:off x="548640" y="3794760"/>
            <a:ext cx="2602153" cy="20116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build05 Rectangle 26"/>
          <p:cNvSpPr/>
          <p:nvPr/>
        </p:nvSpPr>
        <p:spPr>
          <a:xfrm>
            <a:off x="548640" y="3959352"/>
            <a:ext cx="64008" cy="168249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build05 TextBox 27"/>
          <p:cNvSpPr txBox="1"/>
          <p:nvPr/>
        </p:nvSpPr>
        <p:spPr>
          <a:xfrm>
            <a:off x="822959" y="3977640"/>
            <a:ext cx="214495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B45309"/>
                </a:solidFill>
                <a:latin typeface="Arial"/>
              </a:rPr>
              <a:t>Step 4</a:t>
            </a:r>
          </a:p>
        </p:txBody>
      </p:sp>
      <p:sp>
        <p:nvSpPr>
          <p:cNvPr id="29" name="build05 TextBox 28"/>
          <p:cNvSpPr txBox="1"/>
          <p:nvPr/>
        </p:nvSpPr>
        <p:spPr>
          <a:xfrm>
            <a:off x="822959" y="4389120"/>
            <a:ext cx="2144953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0F172A"/>
                </a:solidFill>
                <a:latin typeface="Arial"/>
              </a:rPr>
              <a:t>Resources</a:t>
            </a:r>
          </a:p>
        </p:txBody>
      </p:sp>
      <p:sp>
        <p:nvSpPr>
          <p:cNvPr id="30" name="build05 TextBox 29"/>
          <p:cNvSpPr txBox="1"/>
          <p:nvPr/>
        </p:nvSpPr>
        <p:spPr>
          <a:xfrm>
            <a:off x="822959" y="4846320"/>
            <a:ext cx="2144953" cy="8686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75569"/>
                </a:solidFill>
                <a:latin typeface="Arial"/>
              </a:rPr>
              <a:t>Free is automatic. Paid or login goes to a maintainer.</a:t>
            </a:r>
          </a:p>
        </p:txBody>
      </p:sp>
      <p:sp>
        <p:nvSpPr>
          <p:cNvPr id="31" name="build06 Rounded Rectangle 30"/>
          <p:cNvSpPr/>
          <p:nvPr/>
        </p:nvSpPr>
        <p:spPr>
          <a:xfrm>
            <a:off x="3379393" y="3794760"/>
            <a:ext cx="2602153" cy="20116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build06 Rectangle 31"/>
          <p:cNvSpPr/>
          <p:nvPr/>
        </p:nvSpPr>
        <p:spPr>
          <a:xfrm>
            <a:off x="3379393" y="3959352"/>
            <a:ext cx="64008" cy="1682496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build06 TextBox 32"/>
          <p:cNvSpPr txBox="1"/>
          <p:nvPr/>
        </p:nvSpPr>
        <p:spPr>
          <a:xfrm>
            <a:off x="3653713" y="3977640"/>
            <a:ext cx="214495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4338CA"/>
                </a:solidFill>
                <a:latin typeface="Arial"/>
              </a:rPr>
              <a:t>Step 5</a:t>
            </a:r>
          </a:p>
        </p:txBody>
      </p:sp>
      <p:sp>
        <p:nvSpPr>
          <p:cNvPr id="34" name="build06 TextBox 33"/>
          <p:cNvSpPr txBox="1"/>
          <p:nvPr/>
        </p:nvSpPr>
        <p:spPr>
          <a:xfrm>
            <a:off x="3653713" y="4389120"/>
            <a:ext cx="2144953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0F172A"/>
                </a:solidFill>
                <a:latin typeface="Arial"/>
              </a:rPr>
              <a:t>Build &amp; test</a:t>
            </a:r>
          </a:p>
        </p:txBody>
      </p:sp>
      <p:sp>
        <p:nvSpPr>
          <p:cNvPr id="35" name="build06 TextBox 34"/>
          <p:cNvSpPr txBox="1"/>
          <p:nvPr/>
        </p:nvSpPr>
        <p:spPr>
          <a:xfrm>
            <a:off x="3653713" y="4846320"/>
            <a:ext cx="2144953" cy="8686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75569"/>
                </a:solidFill>
                <a:latin typeface="Arial"/>
              </a:rPr>
              <a:t>Builder writes code, tests and a README. Running tests in a sandbox is next.</a:t>
            </a:r>
          </a:p>
        </p:txBody>
      </p:sp>
      <p:sp>
        <p:nvSpPr>
          <p:cNvPr id="36" name="build07 Rounded Rectangle 35"/>
          <p:cNvSpPr/>
          <p:nvPr/>
        </p:nvSpPr>
        <p:spPr>
          <a:xfrm>
            <a:off x="6210147" y="3794760"/>
            <a:ext cx="2602153" cy="20116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build07 Rectangle 36"/>
          <p:cNvSpPr/>
          <p:nvPr/>
        </p:nvSpPr>
        <p:spPr>
          <a:xfrm>
            <a:off x="6210147" y="3959352"/>
            <a:ext cx="64008" cy="1682496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build07 TextBox 37"/>
          <p:cNvSpPr txBox="1"/>
          <p:nvPr/>
        </p:nvSpPr>
        <p:spPr>
          <a:xfrm>
            <a:off x="6484467" y="3977640"/>
            <a:ext cx="214495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4338CA"/>
                </a:solidFill>
                <a:latin typeface="Arial"/>
              </a:rPr>
              <a:t>Step 6</a:t>
            </a:r>
          </a:p>
        </p:txBody>
      </p:sp>
      <p:sp>
        <p:nvSpPr>
          <p:cNvPr id="39" name="build07 TextBox 38"/>
          <p:cNvSpPr txBox="1"/>
          <p:nvPr/>
        </p:nvSpPr>
        <p:spPr>
          <a:xfrm>
            <a:off x="6484467" y="4389120"/>
            <a:ext cx="2144953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0F172A"/>
                </a:solidFill>
                <a:latin typeface="Arial"/>
              </a:rPr>
              <a:t>Review</a:t>
            </a:r>
          </a:p>
        </p:txBody>
      </p:sp>
      <p:sp>
        <p:nvSpPr>
          <p:cNvPr id="40" name="build07 TextBox 39"/>
          <p:cNvSpPr txBox="1"/>
          <p:nvPr/>
        </p:nvSpPr>
        <p:spPr>
          <a:xfrm>
            <a:off x="6484467" y="4846320"/>
            <a:ext cx="2144953" cy="8686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75569"/>
                </a:solidFill>
                <a:latin typeface="Arial"/>
              </a:rPr>
              <a:t>Opus review with a safety check, one fix round, human final yes.</a:t>
            </a:r>
          </a:p>
        </p:txBody>
      </p:sp>
      <p:sp>
        <p:nvSpPr>
          <p:cNvPr id="41" name="build08 Rounded Rectangle 40"/>
          <p:cNvSpPr/>
          <p:nvPr/>
        </p:nvSpPr>
        <p:spPr>
          <a:xfrm>
            <a:off x="9040901" y="3794760"/>
            <a:ext cx="2602153" cy="20116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build08 Rectangle 41"/>
          <p:cNvSpPr/>
          <p:nvPr/>
        </p:nvSpPr>
        <p:spPr>
          <a:xfrm>
            <a:off x="9040901" y="3959352"/>
            <a:ext cx="64008" cy="168249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build08 TextBox 42"/>
          <p:cNvSpPr txBox="1"/>
          <p:nvPr/>
        </p:nvSpPr>
        <p:spPr>
          <a:xfrm>
            <a:off x="9315221" y="3977640"/>
            <a:ext cx="214495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0F766E"/>
                </a:solidFill>
                <a:latin typeface="Arial"/>
              </a:rPr>
              <a:t>Step 7</a:t>
            </a:r>
          </a:p>
        </p:txBody>
      </p:sp>
      <p:sp>
        <p:nvSpPr>
          <p:cNvPr id="44" name="build08 TextBox 43"/>
          <p:cNvSpPr txBox="1"/>
          <p:nvPr/>
        </p:nvSpPr>
        <p:spPr>
          <a:xfrm>
            <a:off x="9315221" y="4389120"/>
            <a:ext cx="2144953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0F172A"/>
                </a:solidFill>
                <a:latin typeface="Arial"/>
              </a:rPr>
              <a:t>Publish</a:t>
            </a:r>
          </a:p>
        </p:txBody>
      </p:sp>
      <p:sp>
        <p:nvSpPr>
          <p:cNvPr id="45" name="build08 TextBox 44"/>
          <p:cNvSpPr txBox="1"/>
          <p:nvPr/>
        </p:nvSpPr>
        <p:spPr>
          <a:xfrm>
            <a:off x="9315221" y="4846320"/>
            <a:ext cx="2144953" cy="8686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75569"/>
                </a:solidFill>
                <a:latin typeface="Arial"/>
              </a:rPr>
              <a:t>Versioned release, short blog post, poster credited.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8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2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60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00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2400"/>
                            </p:stCondLst>
                            <p:childTnLst>
                              <p:par>
                                <p:cTn id="10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2800"/>
                            </p:stCondLst>
                            <p:childTnLst>
                              <p:par>
                                <p:cTn id="1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/>
      <p:bldP spid="9" grpId="0"/>
      <p:bldP spid="10" grpId="0"/>
      <p:bldP spid="11" grpId="0" animBg="1"/>
      <p:bldP spid="12" grpId="0" animBg="1"/>
      <p:bldP spid="13" grpId="0"/>
      <p:bldP spid="14" grpId="0"/>
      <p:bldP spid="15" grpId="0"/>
      <p:bldP spid="16" grpId="0" animBg="1"/>
      <p:bldP spid="17" grpId="0" animBg="1"/>
      <p:bldP spid="18" grpId="0"/>
      <p:bldP spid="19" grpId="0"/>
      <p:bldP spid="20" grpId="0"/>
      <p:bldP spid="21" grpId="0" animBg="1"/>
      <p:bldP spid="22" grpId="0" animBg="1"/>
      <p:bldP spid="23" grpId="0"/>
      <p:bldP spid="24" grpId="0"/>
      <p:bldP spid="25" grpId="0"/>
      <p:bldP spid="26" grpId="0" animBg="1"/>
      <p:bldP spid="27" grpId="0" animBg="1"/>
      <p:bldP spid="28" grpId="0"/>
      <p:bldP spid="29" grpId="0"/>
      <p:bldP spid="30" grpId="0"/>
      <p:bldP spid="31" grpId="0" animBg="1"/>
      <p:bldP spid="32" grpId="0" animBg="1"/>
      <p:bldP spid="33" grpId="0"/>
      <p:bldP spid="34" grpId="0"/>
      <p:bldP spid="35" grpId="0"/>
      <p:bldP spid="36" grpId="0" animBg="1"/>
      <p:bldP spid="37" grpId="0" animBg="1"/>
      <p:bldP spid="38" grpId="0"/>
      <p:bldP spid="39" grpId="0"/>
      <p:bldP spid="40" grpId="0"/>
      <p:bldP spid="41" grpId="0" animBg="1"/>
      <p:bldP spid="42" grpId="0" animBg="1"/>
      <p:bldP spid="43" grpId="0"/>
      <p:bldP spid="44" grpId="0"/>
      <p:bldP spid="4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4338CA"/>
                </a:solidFill>
                <a:latin typeface="Arial"/>
              </a:rPr>
              <a:t>05 · STRICT SAFETY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0F172A"/>
                </a:solidFill>
                <a:latin typeface="Arial"/>
              </a:rPr>
              <a:t>Nothing starts before this passes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 i="0">
                <a:solidFill>
                  <a:srgbClr val="475569"/>
                </a:solidFill>
                <a:latin typeface="Arial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475569"/>
                </a:solidFill>
                <a:latin typeface="Arial"/>
              </a:rPr>
              <a:t>DevExAI · proposal draft</a:t>
            </a:r>
          </a:p>
        </p:txBody>
      </p:sp>
      <p:sp>
        <p:nvSpPr>
          <p:cNvPr id="6" name="build01 TextBox 5"/>
          <p:cNvSpPr txBox="1"/>
          <p:nvPr/>
        </p:nvSpPr>
        <p:spPr>
          <a:xfrm>
            <a:off x="548640" y="1554480"/>
            <a:ext cx="5943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0F172A"/>
                </a:solidFill>
                <a:latin typeface="Arial"/>
              </a:rPr>
              <a:t>Rejected or flagged</a:t>
            </a:r>
          </a:p>
        </p:txBody>
      </p:sp>
      <p:sp>
        <p:nvSpPr>
          <p:cNvPr id="7" name="build01 Rounded Rectangle 6"/>
          <p:cNvSpPr/>
          <p:nvPr/>
        </p:nvSpPr>
        <p:spPr>
          <a:xfrm>
            <a:off x="548640" y="2194560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build01 TextBox 7"/>
          <p:cNvSpPr txBox="1"/>
          <p:nvPr/>
        </p:nvSpPr>
        <p:spPr>
          <a:xfrm>
            <a:off x="914400" y="2011680"/>
            <a:ext cx="57607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E293B"/>
                </a:solidFill>
                <a:latin typeface="Arial"/>
              </a:rPr>
              <a:t>Adult content, hate, harassment, violence, policy breaches</a:t>
            </a:r>
          </a:p>
        </p:txBody>
      </p:sp>
      <p:sp>
        <p:nvSpPr>
          <p:cNvPr id="9" name="build01 Rounded Rectangle 8"/>
          <p:cNvSpPr/>
          <p:nvPr/>
        </p:nvSpPr>
        <p:spPr>
          <a:xfrm>
            <a:off x="548640" y="2852928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build01 TextBox 9"/>
          <p:cNvSpPr txBox="1"/>
          <p:nvPr/>
        </p:nvSpPr>
        <p:spPr>
          <a:xfrm>
            <a:off x="914400" y="2670048"/>
            <a:ext cx="57607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E293B"/>
                </a:solidFill>
                <a:latin typeface="Arial"/>
              </a:rPr>
              <a:t>Malware, credential stealers, miners, hidden network calls</a:t>
            </a:r>
          </a:p>
        </p:txBody>
      </p:sp>
      <p:sp>
        <p:nvSpPr>
          <p:cNvPr id="11" name="build01 Rounded Rectangle 10"/>
          <p:cNvSpPr/>
          <p:nvPr/>
        </p:nvSpPr>
        <p:spPr>
          <a:xfrm>
            <a:off x="548640" y="3511296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build01 TextBox 11"/>
          <p:cNvSpPr txBox="1"/>
          <p:nvPr/>
        </p:nvSpPr>
        <p:spPr>
          <a:xfrm>
            <a:off x="914400" y="3328416"/>
            <a:ext cx="57607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E293B"/>
                </a:solidFill>
                <a:latin typeface="Arial"/>
              </a:rPr>
              <a:t>Hidden instructions in web pages aimed at the AI</a:t>
            </a:r>
          </a:p>
        </p:txBody>
      </p:sp>
      <p:sp>
        <p:nvSpPr>
          <p:cNvPr id="13" name="build01 Rounded Rectangle 12"/>
          <p:cNvSpPr/>
          <p:nvPr/>
        </p:nvSpPr>
        <p:spPr>
          <a:xfrm>
            <a:off x="548640" y="4169664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build01 TextBox 13"/>
          <p:cNvSpPr txBox="1"/>
          <p:nvPr/>
        </p:nvSpPr>
        <p:spPr>
          <a:xfrm>
            <a:off x="914400" y="3986784"/>
            <a:ext cx="57607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E293B"/>
                </a:solidFill>
                <a:latin typeface="Arial"/>
              </a:rPr>
              <a:t>Requests to leak secrets, customer data or company code</a:t>
            </a:r>
          </a:p>
        </p:txBody>
      </p:sp>
      <p:sp>
        <p:nvSpPr>
          <p:cNvPr id="15" name="build01 Rounded Rectangle 14"/>
          <p:cNvSpPr/>
          <p:nvPr/>
        </p:nvSpPr>
        <p:spPr>
          <a:xfrm>
            <a:off x="548640" y="4828032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build01 TextBox 15"/>
          <p:cNvSpPr txBox="1"/>
          <p:nvPr/>
        </p:nvSpPr>
        <p:spPr>
          <a:xfrm>
            <a:off x="914400" y="4645152"/>
            <a:ext cx="57607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E293B"/>
                </a:solidFill>
                <a:latin typeface="Arial"/>
              </a:rPr>
              <a:t>Licences we cannot use, or piracy</a:t>
            </a:r>
          </a:p>
        </p:txBody>
      </p:sp>
      <p:sp>
        <p:nvSpPr>
          <p:cNvPr id="17" name="build02 TextBox 16"/>
          <p:cNvSpPr txBox="1"/>
          <p:nvPr/>
        </p:nvSpPr>
        <p:spPr>
          <a:xfrm>
            <a:off x="7086600" y="155448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0F172A"/>
                </a:solidFill>
                <a:latin typeface="Arial"/>
              </a:rPr>
              <a:t>Three outcomes</a:t>
            </a:r>
          </a:p>
        </p:txBody>
      </p:sp>
      <p:sp>
        <p:nvSpPr>
          <p:cNvPr id="18" name="build02 Rounded Rectangle 17"/>
          <p:cNvSpPr/>
          <p:nvPr/>
        </p:nvSpPr>
        <p:spPr>
          <a:xfrm>
            <a:off x="7086600" y="2011680"/>
            <a:ext cx="4553712" cy="868680"/>
          </a:xfrm>
          <a:prstGeom prst="roundRect">
            <a:avLst>
              <a:gd name="adj" fmla="val 6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build02 TextBox 18"/>
          <p:cNvSpPr txBox="1"/>
          <p:nvPr/>
        </p:nvSpPr>
        <p:spPr>
          <a:xfrm>
            <a:off x="7315200" y="2011680"/>
            <a:ext cx="109728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0F766E"/>
                </a:solidFill>
                <a:latin typeface="Arial"/>
              </a:rPr>
              <a:t>Pass</a:t>
            </a:r>
          </a:p>
        </p:txBody>
      </p:sp>
      <p:sp>
        <p:nvSpPr>
          <p:cNvPr id="20" name="build02 TextBox 19"/>
          <p:cNvSpPr txBox="1"/>
          <p:nvPr/>
        </p:nvSpPr>
        <p:spPr>
          <a:xfrm>
            <a:off x="8412480" y="2011680"/>
            <a:ext cx="31089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E293B"/>
                </a:solidFill>
                <a:latin typeface="Arial"/>
              </a:rPr>
              <a:t>Work continues.</a:t>
            </a:r>
          </a:p>
        </p:txBody>
      </p:sp>
      <p:sp>
        <p:nvSpPr>
          <p:cNvPr id="21" name="build02 Rounded Rectangle 20"/>
          <p:cNvSpPr/>
          <p:nvPr/>
        </p:nvSpPr>
        <p:spPr>
          <a:xfrm>
            <a:off x="7086600" y="3017520"/>
            <a:ext cx="4553712" cy="868680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build02 TextBox 21"/>
          <p:cNvSpPr txBox="1"/>
          <p:nvPr/>
        </p:nvSpPr>
        <p:spPr>
          <a:xfrm>
            <a:off x="7315200" y="3017520"/>
            <a:ext cx="109728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B45309"/>
                </a:solidFill>
                <a:latin typeface="Arial"/>
              </a:rPr>
              <a:t>Unsure</a:t>
            </a:r>
          </a:p>
        </p:txBody>
      </p:sp>
      <p:sp>
        <p:nvSpPr>
          <p:cNvPr id="23" name="build02 TextBox 22"/>
          <p:cNvSpPr txBox="1"/>
          <p:nvPr/>
        </p:nvSpPr>
        <p:spPr>
          <a:xfrm>
            <a:off x="8412480" y="3017520"/>
            <a:ext cx="31089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E293B"/>
                </a:solidFill>
                <a:latin typeface="Arial"/>
              </a:rPr>
              <a:t>The assigned maintainer decides in chat.</a:t>
            </a:r>
          </a:p>
        </p:txBody>
      </p:sp>
      <p:sp>
        <p:nvSpPr>
          <p:cNvPr id="24" name="build02 Rounded Rectangle 23"/>
          <p:cNvSpPr/>
          <p:nvPr/>
        </p:nvSpPr>
        <p:spPr>
          <a:xfrm>
            <a:off x="7086600" y="4023360"/>
            <a:ext cx="4553712" cy="868680"/>
          </a:xfrm>
          <a:prstGeom prst="roundRect">
            <a:avLst>
              <a:gd name="adj" fmla="val 6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build02 TextBox 24"/>
          <p:cNvSpPr txBox="1"/>
          <p:nvPr/>
        </p:nvSpPr>
        <p:spPr>
          <a:xfrm>
            <a:off x="7315200" y="4023360"/>
            <a:ext cx="109728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B91C1C"/>
                </a:solidFill>
                <a:latin typeface="Arial"/>
              </a:rPr>
              <a:t>Reject</a:t>
            </a:r>
          </a:p>
        </p:txBody>
      </p:sp>
      <p:sp>
        <p:nvSpPr>
          <p:cNvPr id="26" name="build02 TextBox 25"/>
          <p:cNvSpPr txBox="1"/>
          <p:nvPr/>
        </p:nvSpPr>
        <p:spPr>
          <a:xfrm>
            <a:off x="8412480" y="4023360"/>
            <a:ext cx="31089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E293B"/>
                </a:solidFill>
                <a:latin typeface="Arial"/>
              </a:rPr>
              <a:t>Poster told why, politely; maintainer copied.</a:t>
            </a:r>
          </a:p>
        </p:txBody>
      </p:sp>
      <p:sp>
        <p:nvSpPr>
          <p:cNvPr id="27" name="build03 Rounded Rectangle 26"/>
          <p:cNvSpPr/>
          <p:nvPr/>
        </p:nvSpPr>
        <p:spPr>
          <a:xfrm>
            <a:off x="548640" y="5349240"/>
            <a:ext cx="11094415" cy="6858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build03 TextBox 27"/>
          <p:cNvSpPr txBox="1"/>
          <p:nvPr/>
        </p:nvSpPr>
        <p:spPr>
          <a:xfrm>
            <a:off x="822959" y="5349240"/>
            <a:ext cx="1054577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FFFFFF"/>
                </a:solidFill>
                <a:latin typeface="Arial"/>
              </a:rPr>
              <a:t>Links are read by a separate process with no secrets, never on a laptop. The review checks the finished code for safety again.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80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8" grpId="0"/>
      <p:bldP spid="9" grpId="0" animBg="1"/>
      <p:bldP spid="10" grpId="0"/>
      <p:bldP spid="11" grpId="0" animBg="1"/>
      <p:bldP spid="12" grpId="0"/>
      <p:bldP spid="13" grpId="0" animBg="1"/>
      <p:bldP spid="14" grpId="0"/>
      <p:bldP spid="15" grpId="0" animBg="1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  <p:bldP spid="26" grpId="0"/>
      <p:bldP spid="27" grpId="0" animBg="1"/>
      <p:bldP spid="2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4338CA"/>
                </a:solidFill>
                <a:latin typeface="Arial"/>
              </a:rPr>
              <a:t>06 · RESOURCES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0F172A"/>
                </a:solidFill>
                <a:latin typeface="Arial"/>
              </a:rPr>
              <a:t>Free is automatic. Paid or login goes to a human.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 i="0">
                <a:solidFill>
                  <a:srgbClr val="475569"/>
                </a:solidFill>
                <a:latin typeface="Arial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475569"/>
                </a:solidFill>
                <a:latin typeface="Arial"/>
              </a:rPr>
              <a:t>DevExAI · proposal draft</a:t>
            </a:r>
          </a:p>
        </p:txBody>
      </p:sp>
      <p:sp>
        <p:nvSpPr>
          <p:cNvPr id="6" name="build01 Rounded Rectangle 5"/>
          <p:cNvSpPr/>
          <p:nvPr/>
        </p:nvSpPr>
        <p:spPr>
          <a:xfrm>
            <a:off x="548640" y="1554480"/>
            <a:ext cx="5364327" cy="3246120"/>
          </a:xfrm>
          <a:prstGeom prst="roundRect">
            <a:avLst>
              <a:gd name="adj" fmla="val 6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build01 TextBox 6"/>
          <p:cNvSpPr txBox="1"/>
          <p:nvPr/>
        </p:nvSpPr>
        <p:spPr>
          <a:xfrm>
            <a:off x="868680" y="1737360"/>
            <a:ext cx="472424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0F766E"/>
                </a:solidFill>
                <a:latin typeface="Arial"/>
              </a:rPr>
              <a:t>Fast lane</a:t>
            </a:r>
          </a:p>
        </p:txBody>
      </p:sp>
      <p:sp>
        <p:nvSpPr>
          <p:cNvPr id="8" name="build01 TextBox 7"/>
          <p:cNvSpPr txBox="1"/>
          <p:nvPr/>
        </p:nvSpPr>
        <p:spPr>
          <a:xfrm>
            <a:off x="868680" y="2286000"/>
            <a:ext cx="4724247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0F172A"/>
                </a:solidFill>
                <a:latin typeface="Arial"/>
              </a:rPr>
              <a:t>When: </a:t>
            </a:r>
            <a:r>
              <a:rPr sz="1600" b="0" i="0">
                <a:solidFill>
                  <a:srgbClr val="1E293B"/>
                </a:solidFill>
                <a:latin typeface="Arial"/>
              </a:rPr>
              <a:t>Free and needs no account: open-source libraries, public docs, free public APIs without a key.</a:t>
            </a:r>
          </a:p>
        </p:txBody>
      </p:sp>
      <p:sp>
        <p:nvSpPr>
          <p:cNvPr id="9" name="build01 TextBox 8"/>
          <p:cNvSpPr txBox="1"/>
          <p:nvPr/>
        </p:nvSpPr>
        <p:spPr>
          <a:xfrm>
            <a:off x="868680" y="3291840"/>
            <a:ext cx="4724247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0F172A"/>
                </a:solidFill>
                <a:latin typeface="Arial"/>
              </a:rPr>
              <a:t>Bot: </a:t>
            </a:r>
            <a:r>
              <a:rPr sz="1600" b="0" i="0">
                <a:solidFill>
                  <a:srgbClr val="1E293B"/>
                </a:solidFill>
                <a:latin typeface="Arial"/>
              </a:rPr>
              <a:t>Uses it automatically and notes it in the thread.</a:t>
            </a:r>
          </a:p>
        </p:txBody>
      </p:sp>
      <p:sp>
        <p:nvSpPr>
          <p:cNvPr id="10" name="build02 Rounded Rectangle 9"/>
          <p:cNvSpPr/>
          <p:nvPr/>
        </p:nvSpPr>
        <p:spPr>
          <a:xfrm>
            <a:off x="6278727" y="1554480"/>
            <a:ext cx="5364327" cy="3246120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build02 TextBox 10"/>
          <p:cNvSpPr txBox="1"/>
          <p:nvPr/>
        </p:nvSpPr>
        <p:spPr>
          <a:xfrm>
            <a:off x="6598767" y="1737360"/>
            <a:ext cx="472424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B45309"/>
                </a:solidFill>
                <a:latin typeface="Arial"/>
              </a:rPr>
              <a:t>Escalation lane</a:t>
            </a:r>
          </a:p>
        </p:txBody>
      </p:sp>
      <p:sp>
        <p:nvSpPr>
          <p:cNvPr id="12" name="build02 TextBox 11"/>
          <p:cNvSpPr txBox="1"/>
          <p:nvPr/>
        </p:nvSpPr>
        <p:spPr>
          <a:xfrm>
            <a:off x="6598767" y="2286000"/>
            <a:ext cx="4724247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0F172A"/>
                </a:solidFill>
                <a:latin typeface="Arial"/>
              </a:rPr>
              <a:t>When: </a:t>
            </a:r>
            <a:r>
              <a:rPr sz="1600" b="0" i="0">
                <a:solidFill>
                  <a:srgbClr val="1E293B"/>
                </a:solidFill>
                <a:latin typeface="Arial"/>
              </a:rPr>
              <a:t>Paid, behind a login, or needs an API key, a licence or a new account.</a:t>
            </a:r>
          </a:p>
        </p:txBody>
      </p:sp>
      <p:sp>
        <p:nvSpPr>
          <p:cNvPr id="13" name="build02 TextBox 12"/>
          <p:cNvSpPr txBox="1"/>
          <p:nvPr/>
        </p:nvSpPr>
        <p:spPr>
          <a:xfrm>
            <a:off x="6598767" y="3291840"/>
            <a:ext cx="4724247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0F172A"/>
                </a:solidFill>
                <a:latin typeface="Arial"/>
              </a:rPr>
              <a:t>Bot: </a:t>
            </a:r>
            <a:r>
              <a:rPr sz="1600" b="0" i="0">
                <a:solidFill>
                  <a:srgbClr val="1E293B"/>
                </a:solidFill>
                <a:latin typeface="Arial"/>
              </a:rPr>
              <a:t>Stops and asks the maintainers in chat: what it is, why, and the cost.</a:t>
            </a:r>
          </a:p>
        </p:txBody>
      </p:sp>
      <p:sp>
        <p:nvSpPr>
          <p:cNvPr id="14" name="build02 Rounded Rectangle 13"/>
          <p:cNvSpPr/>
          <p:nvPr/>
        </p:nvSpPr>
        <p:spPr>
          <a:xfrm>
            <a:off x="6598767" y="4114800"/>
            <a:ext cx="1280160" cy="457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build02 TextBox 14"/>
          <p:cNvSpPr txBox="1"/>
          <p:nvPr/>
        </p:nvSpPr>
        <p:spPr>
          <a:xfrm>
            <a:off x="6671919" y="4114800"/>
            <a:ext cx="113385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B45309"/>
                </a:solidFill>
                <a:latin typeface="Arial"/>
              </a:rPr>
              <a:t>Approve</a:t>
            </a:r>
          </a:p>
        </p:txBody>
      </p:sp>
      <p:sp>
        <p:nvSpPr>
          <p:cNvPr id="16" name="build02 Rounded Rectangle 15"/>
          <p:cNvSpPr/>
          <p:nvPr/>
        </p:nvSpPr>
        <p:spPr>
          <a:xfrm>
            <a:off x="8016087" y="4114800"/>
            <a:ext cx="1188720" cy="457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build02 TextBox 16"/>
          <p:cNvSpPr txBox="1"/>
          <p:nvPr/>
        </p:nvSpPr>
        <p:spPr>
          <a:xfrm>
            <a:off x="8089239" y="4114800"/>
            <a:ext cx="104241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B45309"/>
                </a:solidFill>
                <a:latin typeface="Arial"/>
              </a:rPr>
              <a:t>Deny</a:t>
            </a:r>
          </a:p>
        </p:txBody>
      </p:sp>
      <p:sp>
        <p:nvSpPr>
          <p:cNvPr id="18" name="build02 Rounded Rectangle 17"/>
          <p:cNvSpPr/>
          <p:nvPr/>
        </p:nvSpPr>
        <p:spPr>
          <a:xfrm>
            <a:off x="9341967" y="4114800"/>
            <a:ext cx="2194560" cy="457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build02 TextBox 18"/>
          <p:cNvSpPr txBox="1"/>
          <p:nvPr/>
        </p:nvSpPr>
        <p:spPr>
          <a:xfrm>
            <a:off x="9415119" y="4114800"/>
            <a:ext cx="204825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B45309"/>
                </a:solidFill>
                <a:latin typeface="Arial"/>
              </a:rPr>
              <a:t>Suggest alternative</a:t>
            </a:r>
          </a:p>
        </p:txBody>
      </p:sp>
      <p:sp>
        <p:nvSpPr>
          <p:cNvPr id="20" name="build03 Rounded Rectangle 19"/>
          <p:cNvSpPr/>
          <p:nvPr/>
        </p:nvSpPr>
        <p:spPr>
          <a:xfrm>
            <a:off x="548640" y="5074920"/>
            <a:ext cx="11094415" cy="96012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build03 TextBox 20"/>
          <p:cNvSpPr txBox="1"/>
          <p:nvPr/>
        </p:nvSpPr>
        <p:spPr>
          <a:xfrm>
            <a:off x="822959" y="5074920"/>
            <a:ext cx="10545775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FFFFFF"/>
                </a:solidFill>
                <a:latin typeface="Arial"/>
              </a:rPr>
              <a:t>The bot never creates accounts, enters passwords or spends money. Keys go into the server's secret file, never into chat.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500" b="0" i="0">
                <a:solidFill>
                  <a:srgbClr val="FFFFFF"/>
                </a:solidFill>
                <a:latin typeface="Arial"/>
              </a:rPr>
              <a:t>The fast lane only skips resource approval — every release still needs a human yes.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4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8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/>
      <p:bldP spid="9" grpId="0"/>
      <p:bldP spid="10" grpId="0" animBg="1"/>
      <p:bldP spid="11" grpId="0"/>
      <p:bldP spid="12" grpId="0"/>
      <p:bldP spid="13" grpId="0"/>
      <p:bldP spid="14" grpId="0" animBg="1"/>
      <p:bldP spid="15" grpId="0"/>
      <p:bldP spid="16" grpId="0" animBg="1"/>
      <p:bldP spid="17" grpId="0"/>
      <p:bldP spid="18" grpId="0" animBg="1"/>
      <p:bldP spid="19" grpId="0"/>
      <p:bldP spid="20" grpId="0" animBg="1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4338CA"/>
                </a:solidFill>
                <a:latin typeface="Arial"/>
              </a:rPr>
              <a:t>07 · REVIEW AND APPROVE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0F172A"/>
                </a:solidFill>
                <a:latin typeface="Arial"/>
              </a:rPr>
              <a:t>Three checks before anything 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 i="0">
                <a:solidFill>
                  <a:srgbClr val="475569"/>
                </a:solidFill>
                <a:latin typeface="Arial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475569"/>
                </a:solidFill>
                <a:latin typeface="Arial"/>
              </a:rPr>
              <a:t>DevExAI · proposal draft</a:t>
            </a:r>
          </a:p>
        </p:txBody>
      </p:sp>
      <p:sp>
        <p:nvSpPr>
          <p:cNvPr id="6" name="build01 Rounded Rectangle 5"/>
          <p:cNvSpPr/>
          <p:nvPr/>
        </p:nvSpPr>
        <p:spPr>
          <a:xfrm>
            <a:off x="548640" y="1600200"/>
            <a:ext cx="3291840" cy="26517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build01 Rectangle 6"/>
          <p:cNvSpPr/>
          <p:nvPr/>
        </p:nvSpPr>
        <p:spPr>
          <a:xfrm>
            <a:off x="548640" y="1764792"/>
            <a:ext cx="64008" cy="2322576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build01 TextBox 7"/>
          <p:cNvSpPr txBox="1"/>
          <p:nvPr/>
        </p:nvSpPr>
        <p:spPr>
          <a:xfrm>
            <a:off x="822959" y="178308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4338CA"/>
                </a:solidFill>
                <a:latin typeface="Arial"/>
              </a:rPr>
              <a:t>1</a:t>
            </a:r>
          </a:p>
        </p:txBody>
      </p:sp>
      <p:sp>
        <p:nvSpPr>
          <p:cNvPr id="9" name="build01 TextBox 8"/>
          <p:cNvSpPr txBox="1"/>
          <p:nvPr/>
        </p:nvSpPr>
        <p:spPr>
          <a:xfrm>
            <a:off x="822959" y="2194560"/>
            <a:ext cx="2834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 i="0">
                <a:solidFill>
                  <a:srgbClr val="0F172A"/>
                </a:solidFill>
                <a:latin typeface="Arial"/>
              </a:rPr>
              <a:t>Opus code review</a:t>
            </a:r>
          </a:p>
        </p:txBody>
      </p:sp>
      <p:sp>
        <p:nvSpPr>
          <p:cNvPr id="10" name="build01 TextBox 9"/>
          <p:cNvSpPr txBox="1"/>
          <p:nvPr/>
        </p:nvSpPr>
        <p:spPr>
          <a:xfrm>
            <a:off x="822959" y="2651760"/>
            <a:ext cx="2834640" cy="1508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475569"/>
                </a:solidFill>
                <a:latin typeface="Arial"/>
              </a:rPr>
              <a:t>Correctness, security, tests, readability. Problems go back to the builder, then Opus reviews again.</a:t>
            </a:r>
          </a:p>
        </p:txBody>
      </p:sp>
      <p:sp>
        <p:nvSpPr>
          <p:cNvPr id="11" name="build01 Right Arrow 10"/>
          <p:cNvSpPr/>
          <p:nvPr/>
        </p:nvSpPr>
        <p:spPr>
          <a:xfrm>
            <a:off x="3977640" y="2788920"/>
            <a:ext cx="329184" cy="310896"/>
          </a:xfrm>
          <a:prstGeom prst="right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build02 Rounded Rectangle 11"/>
          <p:cNvSpPr/>
          <p:nvPr/>
        </p:nvSpPr>
        <p:spPr>
          <a:xfrm>
            <a:off x="4448556" y="1600200"/>
            <a:ext cx="3291840" cy="26517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build02 Rectangle 12"/>
          <p:cNvSpPr/>
          <p:nvPr/>
        </p:nvSpPr>
        <p:spPr>
          <a:xfrm>
            <a:off x="4448556" y="1764792"/>
            <a:ext cx="64008" cy="2322576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build02 TextBox 13"/>
          <p:cNvSpPr txBox="1"/>
          <p:nvPr/>
        </p:nvSpPr>
        <p:spPr>
          <a:xfrm>
            <a:off x="4722876" y="178308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4338CA"/>
                </a:solidFill>
                <a:latin typeface="Arial"/>
              </a:rPr>
              <a:t>2</a:t>
            </a:r>
          </a:p>
        </p:txBody>
      </p:sp>
      <p:sp>
        <p:nvSpPr>
          <p:cNvPr id="15" name="build02 TextBox 14"/>
          <p:cNvSpPr txBox="1"/>
          <p:nvPr/>
        </p:nvSpPr>
        <p:spPr>
          <a:xfrm>
            <a:off x="4722876" y="2194560"/>
            <a:ext cx="2834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 i="0">
                <a:solidFill>
                  <a:srgbClr val="0F172A"/>
                </a:solidFill>
                <a:latin typeface="Arial"/>
              </a:rPr>
              <a:t>Safety check again</a:t>
            </a:r>
          </a:p>
        </p:txBody>
      </p:sp>
      <p:sp>
        <p:nvSpPr>
          <p:cNvPr id="16" name="build02 TextBox 15"/>
          <p:cNvSpPr txBox="1"/>
          <p:nvPr/>
        </p:nvSpPr>
        <p:spPr>
          <a:xfrm>
            <a:off x="4722876" y="2651760"/>
            <a:ext cx="2834640" cy="1508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475569"/>
                </a:solidFill>
                <a:latin typeface="Arial"/>
              </a:rPr>
              <a:t>On the finished code and every dependency. A safe idea can still produce unsafe code.</a:t>
            </a:r>
          </a:p>
        </p:txBody>
      </p:sp>
      <p:sp>
        <p:nvSpPr>
          <p:cNvPr id="17" name="build02 Right Arrow 16"/>
          <p:cNvSpPr/>
          <p:nvPr/>
        </p:nvSpPr>
        <p:spPr>
          <a:xfrm>
            <a:off x="7877556" y="2788920"/>
            <a:ext cx="329184" cy="310896"/>
          </a:xfrm>
          <a:prstGeom prst="right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build03 Rounded Rectangle 17"/>
          <p:cNvSpPr/>
          <p:nvPr/>
        </p:nvSpPr>
        <p:spPr>
          <a:xfrm>
            <a:off x="8348472" y="1600200"/>
            <a:ext cx="3291840" cy="26517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build03 Rectangle 18"/>
          <p:cNvSpPr/>
          <p:nvPr/>
        </p:nvSpPr>
        <p:spPr>
          <a:xfrm>
            <a:off x="8348472" y="1764792"/>
            <a:ext cx="64008" cy="232257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build03 TextBox 19"/>
          <p:cNvSpPr txBox="1"/>
          <p:nvPr/>
        </p:nvSpPr>
        <p:spPr>
          <a:xfrm>
            <a:off x="8622792" y="178308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0F766E"/>
                </a:solidFill>
                <a:latin typeface="Arial"/>
              </a:rPr>
              <a:t>3</a:t>
            </a:r>
          </a:p>
        </p:txBody>
      </p:sp>
      <p:sp>
        <p:nvSpPr>
          <p:cNvPr id="21" name="build03 TextBox 20"/>
          <p:cNvSpPr txBox="1"/>
          <p:nvPr/>
        </p:nvSpPr>
        <p:spPr>
          <a:xfrm>
            <a:off x="8622792" y="2194560"/>
            <a:ext cx="2834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 i="0">
                <a:solidFill>
                  <a:srgbClr val="0F172A"/>
                </a:solidFill>
                <a:latin typeface="Arial"/>
              </a:rPr>
              <a:t>A human says yes</a:t>
            </a:r>
          </a:p>
        </p:txBody>
      </p:sp>
      <p:sp>
        <p:nvSpPr>
          <p:cNvPr id="22" name="build03 TextBox 21"/>
          <p:cNvSpPr txBox="1"/>
          <p:nvPr/>
        </p:nvSpPr>
        <p:spPr>
          <a:xfrm>
            <a:off x="8622792" y="2651760"/>
            <a:ext cx="2834640" cy="1508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475569"/>
                </a:solidFill>
                <a:latin typeface="Arial"/>
              </a:rPr>
              <a:t>A maintainer gives the final approval. Nothing reaches colleagues without it.</a:t>
            </a:r>
          </a:p>
        </p:txBody>
      </p:sp>
      <p:pic>
        <p:nvPicPr>
          <p:cNvPr id="23" name="build04 Picture 22" descr="review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174175" y="4526280"/>
            <a:ext cx="2468880" cy="1645920"/>
          </a:xfrm>
          <a:prstGeom prst="rect">
            <a:avLst/>
          </a:prstGeom>
        </p:spPr>
      </p:pic>
      <p:sp>
        <p:nvSpPr>
          <p:cNvPr id="24" name="build04 Rounded Rectangle 23"/>
          <p:cNvSpPr/>
          <p:nvPr/>
        </p:nvSpPr>
        <p:spPr>
          <a:xfrm>
            <a:off x="548640" y="4526280"/>
            <a:ext cx="8351215" cy="1645920"/>
          </a:xfrm>
          <a:prstGeom prst="roundRect">
            <a:avLst>
              <a:gd name="adj" fmla="val 6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build04 TextBox 24"/>
          <p:cNvSpPr txBox="1"/>
          <p:nvPr/>
        </p:nvSpPr>
        <p:spPr>
          <a:xfrm>
            <a:off x="914400" y="4526280"/>
            <a:ext cx="7619695" cy="1645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4338CA"/>
                </a:solidFill>
                <a:latin typeface="Arial"/>
              </a:rPr>
              <a:t>Only Opus reviews code. </a:t>
            </a:r>
            <a:r>
              <a:rPr sz="1800" b="0" i="0">
                <a:solidFill>
                  <a:srgbClr val="0F172A"/>
                </a:solidFill>
                <a:latin typeface="Arial"/>
              </a:rPr>
              <a:t>The builder never approves code, and never reviews its own work.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8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200"/>
                            </p:stCondLst>
                            <p:childTnLst>
                              <p:par>
                                <p:cTn id="5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/>
      <p:bldP spid="9" grpId="0"/>
      <p:bldP spid="10" grpId="0"/>
      <p:bldP spid="11" grpId="0" animBg="1"/>
      <p:bldP spid="12" grpId="0" animBg="1"/>
      <p:bldP spid="13" grpId="0" animBg="1"/>
      <p:bldP spid="14" grpId="0"/>
      <p:bldP spid="15" grpId="0"/>
      <p:bldP spid="16" grpId="0"/>
      <p:bldP spid="17" grpId="0" animBg="1"/>
      <p:bldP spid="18" grpId="0" animBg="1"/>
      <p:bldP spid="19" grpId="0" animBg="1"/>
      <p:bldP spid="20" grpId="0"/>
      <p:bldP spid="21" grpId="0"/>
      <p:bldP spid="22" grpId="0"/>
      <p:bldP spid="24" grpId="0" animBg="1"/>
      <p:bldP spid="2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4338CA"/>
                </a:solidFill>
                <a:latin typeface="Arial"/>
              </a:rPr>
              <a:t>08 · KEEPING PEOPLE INFORMED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0F172A"/>
                </a:solidFill>
                <a:latin typeface="Arial"/>
              </a:rPr>
              <a:t>The poster and maintainer see every stage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 i="0">
                <a:solidFill>
                  <a:srgbClr val="475569"/>
                </a:solidFill>
                <a:latin typeface="Arial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475569"/>
                </a:solidFill>
                <a:latin typeface="Arial"/>
              </a:rPr>
              <a:t>DevExAI · proposal draft</a:t>
            </a:r>
          </a:p>
        </p:txBody>
      </p:sp>
      <p:sp>
        <p:nvSpPr>
          <p:cNvPr id="6" name="build01 Rounded Rectangle 5"/>
          <p:cNvSpPr/>
          <p:nvPr/>
        </p:nvSpPr>
        <p:spPr>
          <a:xfrm>
            <a:off x="548640" y="1691640"/>
            <a:ext cx="1783080" cy="548640"/>
          </a:xfrm>
          <a:prstGeom prst="roundRect">
            <a:avLst>
              <a:gd name="adj" fmla="val 30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build01 TextBox 6"/>
          <p:cNvSpPr txBox="1"/>
          <p:nvPr/>
        </p:nvSpPr>
        <p:spPr>
          <a:xfrm>
            <a:off x="621792" y="1691640"/>
            <a:ext cx="1636776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338CA"/>
                </a:solidFill>
                <a:latin typeface="Arial"/>
              </a:rPr>
              <a:t>Received</a:t>
            </a:r>
          </a:p>
        </p:txBody>
      </p:sp>
      <p:sp>
        <p:nvSpPr>
          <p:cNvPr id="8" name="build01 Right Arrow 7"/>
          <p:cNvSpPr/>
          <p:nvPr/>
        </p:nvSpPr>
        <p:spPr>
          <a:xfrm>
            <a:off x="2395727" y="1837944"/>
            <a:ext cx="237744" cy="256032"/>
          </a:xfrm>
          <a:prstGeom prst="right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build01 Rounded Rectangle 8"/>
          <p:cNvSpPr/>
          <p:nvPr/>
        </p:nvSpPr>
        <p:spPr>
          <a:xfrm>
            <a:off x="2660903" y="1691640"/>
            <a:ext cx="1783080" cy="548640"/>
          </a:xfrm>
          <a:prstGeom prst="roundRect">
            <a:avLst>
              <a:gd name="adj" fmla="val 30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build01 TextBox 9"/>
          <p:cNvSpPr txBox="1"/>
          <p:nvPr/>
        </p:nvSpPr>
        <p:spPr>
          <a:xfrm>
            <a:off x="2734056" y="1691640"/>
            <a:ext cx="1636776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338CA"/>
                </a:solidFill>
                <a:latin typeface="Arial"/>
              </a:rPr>
              <a:t>Safety check</a:t>
            </a:r>
          </a:p>
        </p:txBody>
      </p:sp>
      <p:sp>
        <p:nvSpPr>
          <p:cNvPr id="11" name="build01 Right Arrow 10"/>
          <p:cNvSpPr/>
          <p:nvPr/>
        </p:nvSpPr>
        <p:spPr>
          <a:xfrm>
            <a:off x="4507992" y="1837944"/>
            <a:ext cx="237744" cy="256032"/>
          </a:xfrm>
          <a:prstGeom prst="right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build01 Rounded Rectangle 11"/>
          <p:cNvSpPr/>
          <p:nvPr/>
        </p:nvSpPr>
        <p:spPr>
          <a:xfrm>
            <a:off x="4773168" y="1691640"/>
            <a:ext cx="1783080" cy="548640"/>
          </a:xfrm>
          <a:prstGeom prst="roundRect">
            <a:avLst>
              <a:gd name="adj" fmla="val 30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build01 TextBox 12"/>
          <p:cNvSpPr txBox="1"/>
          <p:nvPr/>
        </p:nvSpPr>
        <p:spPr>
          <a:xfrm>
            <a:off x="4846320" y="1691640"/>
            <a:ext cx="1636776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338CA"/>
                </a:solidFill>
                <a:latin typeface="Arial"/>
              </a:rPr>
              <a:t>Researching</a:t>
            </a:r>
          </a:p>
        </p:txBody>
      </p:sp>
      <p:sp>
        <p:nvSpPr>
          <p:cNvPr id="14" name="build01 Right Arrow 13"/>
          <p:cNvSpPr/>
          <p:nvPr/>
        </p:nvSpPr>
        <p:spPr>
          <a:xfrm>
            <a:off x="6620256" y="1837944"/>
            <a:ext cx="237744" cy="256032"/>
          </a:xfrm>
          <a:prstGeom prst="right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build01 Rounded Rectangle 14"/>
          <p:cNvSpPr/>
          <p:nvPr/>
        </p:nvSpPr>
        <p:spPr>
          <a:xfrm>
            <a:off x="6885432" y="1691640"/>
            <a:ext cx="1783080" cy="548640"/>
          </a:xfrm>
          <a:prstGeom prst="roundRect">
            <a:avLst>
              <a:gd name="adj" fmla="val 30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build01 TextBox 15"/>
          <p:cNvSpPr txBox="1"/>
          <p:nvPr/>
        </p:nvSpPr>
        <p:spPr>
          <a:xfrm>
            <a:off x="6958584" y="1691640"/>
            <a:ext cx="1636776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338CA"/>
                </a:solidFill>
                <a:latin typeface="Arial"/>
              </a:rPr>
              <a:t>Plan ready</a:t>
            </a:r>
          </a:p>
        </p:txBody>
      </p:sp>
      <p:sp>
        <p:nvSpPr>
          <p:cNvPr id="17" name="build01 Right Arrow 16"/>
          <p:cNvSpPr/>
          <p:nvPr/>
        </p:nvSpPr>
        <p:spPr>
          <a:xfrm>
            <a:off x="8732520" y="1837944"/>
            <a:ext cx="237744" cy="256032"/>
          </a:xfrm>
          <a:prstGeom prst="right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build01 Rounded Rectangle 17"/>
          <p:cNvSpPr/>
          <p:nvPr/>
        </p:nvSpPr>
        <p:spPr>
          <a:xfrm>
            <a:off x="8997696" y="1691640"/>
            <a:ext cx="2377440" cy="548640"/>
          </a:xfrm>
          <a:prstGeom prst="roundRect">
            <a:avLst>
              <a:gd name="adj" fmla="val 30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build01 TextBox 18"/>
          <p:cNvSpPr txBox="1"/>
          <p:nvPr/>
        </p:nvSpPr>
        <p:spPr>
          <a:xfrm>
            <a:off x="9070848" y="1691640"/>
            <a:ext cx="2231136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338CA"/>
                </a:solidFill>
                <a:latin typeface="Arial"/>
              </a:rPr>
              <a:t>Waiting for approval</a:t>
            </a:r>
          </a:p>
        </p:txBody>
      </p:sp>
      <p:sp>
        <p:nvSpPr>
          <p:cNvPr id="20" name="build02 Rounded Rectangle 19"/>
          <p:cNvSpPr/>
          <p:nvPr/>
        </p:nvSpPr>
        <p:spPr>
          <a:xfrm>
            <a:off x="548640" y="2651760"/>
            <a:ext cx="1783080" cy="548640"/>
          </a:xfrm>
          <a:prstGeom prst="roundRect">
            <a:avLst>
              <a:gd name="adj" fmla="val 30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build02 TextBox 20"/>
          <p:cNvSpPr txBox="1"/>
          <p:nvPr/>
        </p:nvSpPr>
        <p:spPr>
          <a:xfrm>
            <a:off x="621792" y="2651760"/>
            <a:ext cx="1636776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338CA"/>
                </a:solidFill>
                <a:latin typeface="Arial"/>
              </a:rPr>
              <a:t>Building</a:t>
            </a:r>
          </a:p>
        </p:txBody>
      </p:sp>
      <p:sp>
        <p:nvSpPr>
          <p:cNvPr id="22" name="build02 Right Arrow 21"/>
          <p:cNvSpPr/>
          <p:nvPr/>
        </p:nvSpPr>
        <p:spPr>
          <a:xfrm>
            <a:off x="2395727" y="2798064"/>
            <a:ext cx="237744" cy="256032"/>
          </a:xfrm>
          <a:prstGeom prst="right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build02 Rounded Rectangle 22"/>
          <p:cNvSpPr/>
          <p:nvPr/>
        </p:nvSpPr>
        <p:spPr>
          <a:xfrm>
            <a:off x="2660903" y="2651760"/>
            <a:ext cx="1783080" cy="548640"/>
          </a:xfrm>
          <a:prstGeom prst="roundRect">
            <a:avLst>
              <a:gd name="adj" fmla="val 30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build02 TextBox 23"/>
          <p:cNvSpPr txBox="1"/>
          <p:nvPr/>
        </p:nvSpPr>
        <p:spPr>
          <a:xfrm>
            <a:off x="2734056" y="2651760"/>
            <a:ext cx="1636776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338CA"/>
                </a:solidFill>
                <a:latin typeface="Arial"/>
              </a:rPr>
              <a:t>Under review</a:t>
            </a:r>
          </a:p>
        </p:txBody>
      </p:sp>
      <p:sp>
        <p:nvSpPr>
          <p:cNvPr id="25" name="build02 Right Arrow 24"/>
          <p:cNvSpPr/>
          <p:nvPr/>
        </p:nvSpPr>
        <p:spPr>
          <a:xfrm>
            <a:off x="4507992" y="2798064"/>
            <a:ext cx="237744" cy="256032"/>
          </a:xfrm>
          <a:prstGeom prst="right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build02 Rounded Rectangle 25"/>
          <p:cNvSpPr/>
          <p:nvPr/>
        </p:nvSpPr>
        <p:spPr>
          <a:xfrm>
            <a:off x="4773168" y="2651760"/>
            <a:ext cx="2377440" cy="548640"/>
          </a:xfrm>
          <a:prstGeom prst="roundRect">
            <a:avLst>
              <a:gd name="adj" fmla="val 30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build02 TextBox 26"/>
          <p:cNvSpPr txBox="1"/>
          <p:nvPr/>
        </p:nvSpPr>
        <p:spPr>
          <a:xfrm>
            <a:off x="4846320" y="2651760"/>
            <a:ext cx="2231136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0F766E"/>
                </a:solidFill>
                <a:latin typeface="Arial"/>
              </a:rPr>
              <a:t>Published or stopped</a:t>
            </a:r>
          </a:p>
        </p:txBody>
      </p:sp>
      <p:sp>
        <p:nvSpPr>
          <p:cNvPr id="28" name="build02 TextBox 27"/>
          <p:cNvSpPr txBox="1"/>
          <p:nvPr/>
        </p:nvSpPr>
        <p:spPr>
          <a:xfrm>
            <a:off x="548640" y="3337560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75569"/>
                </a:solidFill>
                <a:latin typeface="Arial"/>
              </a:rPr>
              <a:t>“Waiting for approval” appears only when a paid resource or login is needed. A “Testing” stage joins once builds run in a sandbox.</a:t>
            </a:r>
          </a:p>
        </p:txBody>
      </p:sp>
      <p:pic>
        <p:nvPicPr>
          <p:cNvPr id="29" name="build03 Picture 28" descr="phone.jpg"/>
          <p:cNvPicPr>
            <a:picLocks noChangeAspect="1"/>
          </p:cNvPicPr>
          <p:nvPr/>
        </p:nvPicPr>
        <p:blipFill>
          <a:blip r:embed="rId3"/>
          <a:srcRect t="85" b="85"/>
          <a:stretch>
            <a:fillRect/>
          </a:stretch>
        </p:blipFill>
        <p:spPr>
          <a:xfrm>
            <a:off x="8963863" y="3931920"/>
            <a:ext cx="2679192" cy="1783080"/>
          </a:xfrm>
          <a:prstGeom prst="rect">
            <a:avLst/>
          </a:prstGeom>
        </p:spPr>
      </p:pic>
      <p:sp>
        <p:nvSpPr>
          <p:cNvPr id="30" name="build03 Rounded Rectangle 29"/>
          <p:cNvSpPr/>
          <p:nvPr/>
        </p:nvSpPr>
        <p:spPr>
          <a:xfrm>
            <a:off x="548640" y="3931920"/>
            <a:ext cx="3933291" cy="17830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build03 Rectangle 30"/>
          <p:cNvSpPr/>
          <p:nvPr/>
        </p:nvSpPr>
        <p:spPr>
          <a:xfrm>
            <a:off x="548640" y="4096511"/>
            <a:ext cx="64008" cy="1453895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build03 TextBox 31"/>
          <p:cNvSpPr txBox="1"/>
          <p:nvPr/>
        </p:nvSpPr>
        <p:spPr>
          <a:xfrm>
            <a:off x="822959" y="4114800"/>
            <a:ext cx="3476091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 i="0">
                <a:solidFill>
                  <a:srgbClr val="0F172A"/>
                </a:solidFill>
                <a:latin typeface="Arial"/>
              </a:rPr>
              <a:t>Where</a:t>
            </a:r>
          </a:p>
        </p:txBody>
      </p:sp>
      <p:sp>
        <p:nvSpPr>
          <p:cNvPr id="33" name="build03 TextBox 32"/>
          <p:cNvSpPr txBox="1"/>
          <p:nvPr/>
        </p:nvSpPr>
        <p:spPr>
          <a:xfrm>
            <a:off x="822959" y="4572000"/>
            <a:ext cx="3476091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475569"/>
                </a:solidFill>
                <a:latin typeface="Arial"/>
              </a:rPr>
              <a:t>Every update goes into the idea's own thread; the maintainer's buttons come in a direct message.</a:t>
            </a:r>
          </a:p>
        </p:txBody>
      </p:sp>
      <p:sp>
        <p:nvSpPr>
          <p:cNvPr id="34" name="build03 Rounded Rectangle 33"/>
          <p:cNvSpPr/>
          <p:nvPr/>
        </p:nvSpPr>
        <p:spPr>
          <a:xfrm>
            <a:off x="4756251" y="3931920"/>
            <a:ext cx="3933291" cy="17830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build03 Rectangle 34"/>
          <p:cNvSpPr/>
          <p:nvPr/>
        </p:nvSpPr>
        <p:spPr>
          <a:xfrm>
            <a:off x="4756251" y="4096511"/>
            <a:ext cx="64008" cy="1453895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build03 TextBox 35"/>
          <p:cNvSpPr txBox="1"/>
          <p:nvPr/>
        </p:nvSpPr>
        <p:spPr>
          <a:xfrm>
            <a:off x="5030571" y="4114800"/>
            <a:ext cx="3476091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 i="0">
                <a:solidFill>
                  <a:srgbClr val="0F172A"/>
                </a:solidFill>
                <a:latin typeface="Arial"/>
              </a:rPr>
              <a:t>What they can do</a:t>
            </a:r>
          </a:p>
        </p:txBody>
      </p:sp>
      <p:sp>
        <p:nvSpPr>
          <p:cNvPr id="37" name="build03 TextBox 36"/>
          <p:cNvSpPr txBox="1"/>
          <p:nvPr/>
        </p:nvSpPr>
        <p:spPr>
          <a:xfrm>
            <a:off x="5030571" y="4572000"/>
            <a:ext cx="3476091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475569"/>
                </a:solidFill>
                <a:latin typeface="Arial"/>
              </a:rPr>
              <a:t>Reply to ask a question, add details, or stop the idea. If a step runs long, the bot says so.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4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800"/>
                            </p:stCondLst>
                            <p:childTnLst>
                              <p:par>
                                <p:cTn id="7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 animBg="1"/>
      <p:bldP spid="9" grpId="0" animBg="1"/>
      <p:bldP spid="10" grpId="0"/>
      <p:bldP spid="11" grpId="0" animBg="1"/>
      <p:bldP spid="12" grpId="0" animBg="1"/>
      <p:bldP spid="13" grpId="0"/>
      <p:bldP spid="14" grpId="0" animBg="1"/>
      <p:bldP spid="15" grpId="0" animBg="1"/>
      <p:bldP spid="16" grpId="0"/>
      <p:bldP spid="17" grpId="0" animBg="1"/>
      <p:bldP spid="18" grpId="0" animBg="1"/>
      <p:bldP spid="19" grpId="0"/>
      <p:bldP spid="20" grpId="0" animBg="1"/>
      <p:bldP spid="21" grpId="0"/>
      <p:bldP spid="22" grpId="0" animBg="1"/>
      <p:bldP spid="23" grpId="0" animBg="1"/>
      <p:bldP spid="24" grpId="0"/>
      <p:bldP spid="25" grpId="0" animBg="1"/>
      <p:bldP spid="26" grpId="0" animBg="1"/>
      <p:bldP spid="27" grpId="0"/>
      <p:bldP spid="28" grpId="0"/>
      <p:bldP spid="30" grpId="0" animBg="1"/>
      <p:bldP spid="31" grpId="0" animBg="1"/>
      <p:bldP spid="32" grpId="0"/>
      <p:bldP spid="33" grpId="0"/>
      <p:bldP spid="34" grpId="0" animBg="1"/>
      <p:bldP spid="35" grpId="0" animBg="1"/>
      <p:bldP spid="36" grpId="0"/>
      <p:bldP spid="3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4338CA"/>
                </a:solidFill>
                <a:latin typeface="Arial"/>
              </a:rPr>
              <a:t>09 · WHAT GETS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0F172A"/>
                </a:solidFill>
                <a:latin typeface="Arial"/>
              </a:rPr>
              <a:t>Ready-to-install tools for AI coding assistants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 i="0">
                <a:solidFill>
                  <a:srgbClr val="475569"/>
                </a:solidFill>
                <a:latin typeface="Arial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475569"/>
                </a:solidFill>
                <a:latin typeface="Arial"/>
              </a:rPr>
              <a:t>DevExAI · proposal draft</a:t>
            </a:r>
          </a:p>
        </p:txBody>
      </p:sp>
      <p:sp>
        <p:nvSpPr>
          <p:cNvPr id="6" name="build01 Rounded Rectangle 5"/>
          <p:cNvSpPr/>
          <p:nvPr/>
        </p:nvSpPr>
        <p:spPr>
          <a:xfrm>
            <a:off x="548640" y="1600200"/>
            <a:ext cx="2567863" cy="210312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build01 Rectangle 6"/>
          <p:cNvSpPr/>
          <p:nvPr/>
        </p:nvSpPr>
        <p:spPr>
          <a:xfrm>
            <a:off x="548640" y="1764792"/>
            <a:ext cx="64008" cy="1773936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build01 TextBox 7"/>
          <p:cNvSpPr txBox="1"/>
          <p:nvPr/>
        </p:nvSpPr>
        <p:spPr>
          <a:xfrm>
            <a:off x="822959" y="1783080"/>
            <a:ext cx="2110663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0F172A"/>
                </a:solidFill>
                <a:latin typeface="Arial"/>
              </a:rPr>
              <a:t>Skills</a:t>
            </a:r>
          </a:p>
        </p:txBody>
      </p:sp>
      <p:sp>
        <p:nvSpPr>
          <p:cNvPr id="9" name="build01 TextBox 8"/>
          <p:cNvSpPr txBox="1"/>
          <p:nvPr/>
        </p:nvSpPr>
        <p:spPr>
          <a:xfrm>
            <a:off x="822959" y="2240280"/>
            <a:ext cx="2110663" cy="13715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75569"/>
                </a:solidFill>
                <a:latin typeface="Arial"/>
              </a:rPr>
              <a:t>Reusable “how to do X” guides the assistant follows.</a:t>
            </a:r>
          </a:p>
        </p:txBody>
      </p:sp>
      <p:sp>
        <p:nvSpPr>
          <p:cNvPr id="10" name="build02 Rounded Rectangle 9"/>
          <p:cNvSpPr/>
          <p:nvPr/>
        </p:nvSpPr>
        <p:spPr>
          <a:xfrm>
            <a:off x="3390823" y="1600200"/>
            <a:ext cx="2567863" cy="210312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build02 Rectangle 10"/>
          <p:cNvSpPr/>
          <p:nvPr/>
        </p:nvSpPr>
        <p:spPr>
          <a:xfrm>
            <a:off x="3390823" y="1764792"/>
            <a:ext cx="64008" cy="1773936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build02 TextBox 11"/>
          <p:cNvSpPr txBox="1"/>
          <p:nvPr/>
        </p:nvSpPr>
        <p:spPr>
          <a:xfrm>
            <a:off x="3665143" y="1783080"/>
            <a:ext cx="2110663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0F172A"/>
                </a:solidFill>
                <a:latin typeface="Arial"/>
              </a:rPr>
              <a:t>MCP servers</a:t>
            </a:r>
          </a:p>
        </p:txBody>
      </p:sp>
      <p:sp>
        <p:nvSpPr>
          <p:cNvPr id="13" name="build02 TextBox 12"/>
          <p:cNvSpPr txBox="1"/>
          <p:nvPr/>
        </p:nvSpPr>
        <p:spPr>
          <a:xfrm>
            <a:off x="3665143" y="2240280"/>
            <a:ext cx="2110663" cy="13715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75569"/>
                </a:solidFill>
                <a:latin typeface="Arial"/>
              </a:rPr>
              <a:t>Small services that give assistants new abilities, e.g. read the issue tracker.</a:t>
            </a:r>
          </a:p>
        </p:txBody>
      </p:sp>
      <p:sp>
        <p:nvSpPr>
          <p:cNvPr id="14" name="build03 Rounded Rectangle 13"/>
          <p:cNvSpPr/>
          <p:nvPr/>
        </p:nvSpPr>
        <p:spPr>
          <a:xfrm>
            <a:off x="6233007" y="1600200"/>
            <a:ext cx="2567863" cy="210312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build03 Rectangle 14"/>
          <p:cNvSpPr/>
          <p:nvPr/>
        </p:nvSpPr>
        <p:spPr>
          <a:xfrm>
            <a:off x="6233007" y="1764792"/>
            <a:ext cx="64008" cy="1773936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build03 TextBox 15"/>
          <p:cNvSpPr txBox="1"/>
          <p:nvPr/>
        </p:nvSpPr>
        <p:spPr>
          <a:xfrm>
            <a:off x="6507327" y="1783080"/>
            <a:ext cx="2110663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0F172A"/>
                </a:solidFill>
                <a:latin typeface="Arial"/>
              </a:rPr>
              <a:t>Tools &amp; scripts</a:t>
            </a:r>
          </a:p>
        </p:txBody>
      </p:sp>
      <p:sp>
        <p:nvSpPr>
          <p:cNvPr id="17" name="build03 TextBox 16"/>
          <p:cNvSpPr txBox="1"/>
          <p:nvPr/>
        </p:nvSpPr>
        <p:spPr>
          <a:xfrm>
            <a:off x="6507327" y="2240280"/>
            <a:ext cx="2110663" cy="13715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75569"/>
                </a:solidFill>
                <a:latin typeface="Arial"/>
              </a:rPr>
              <a:t>Command-line helpers.</a:t>
            </a:r>
          </a:p>
        </p:txBody>
      </p:sp>
      <p:sp>
        <p:nvSpPr>
          <p:cNvPr id="18" name="build04 Rounded Rectangle 17"/>
          <p:cNvSpPr/>
          <p:nvPr/>
        </p:nvSpPr>
        <p:spPr>
          <a:xfrm>
            <a:off x="9075191" y="1600200"/>
            <a:ext cx="2567863" cy="210312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build04 Rectangle 18"/>
          <p:cNvSpPr/>
          <p:nvPr/>
        </p:nvSpPr>
        <p:spPr>
          <a:xfrm>
            <a:off x="9075191" y="1764792"/>
            <a:ext cx="64008" cy="1773936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build04 TextBox 19"/>
          <p:cNvSpPr txBox="1"/>
          <p:nvPr/>
        </p:nvSpPr>
        <p:spPr>
          <a:xfrm>
            <a:off x="9349511" y="1783080"/>
            <a:ext cx="2110663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0F172A"/>
                </a:solidFill>
                <a:latin typeface="Arial"/>
              </a:rPr>
              <a:t>Plugins</a:t>
            </a:r>
          </a:p>
        </p:txBody>
      </p:sp>
      <p:sp>
        <p:nvSpPr>
          <p:cNvPr id="21" name="build04 TextBox 20"/>
          <p:cNvSpPr txBox="1"/>
          <p:nvPr/>
        </p:nvSpPr>
        <p:spPr>
          <a:xfrm>
            <a:off x="9349511" y="2240280"/>
            <a:ext cx="2110663" cy="13715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75569"/>
                </a:solidFill>
                <a:latin typeface="Arial"/>
              </a:rPr>
              <a:t>Bundles that install several of the above at once.</a:t>
            </a:r>
          </a:p>
        </p:txBody>
      </p:sp>
      <p:sp>
        <p:nvSpPr>
          <p:cNvPr id="22" name="build05 TextBox 21"/>
          <p:cNvSpPr txBox="1"/>
          <p:nvPr/>
        </p:nvSpPr>
        <p:spPr>
          <a:xfrm>
            <a:off x="548640" y="4023360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0F172A"/>
                </a:solidFill>
                <a:latin typeface="Arial"/>
              </a:rPr>
              <a:t>Claude Code first; Gemini CLI and Codex next</a:t>
            </a:r>
          </a:p>
        </p:txBody>
      </p:sp>
      <p:sp>
        <p:nvSpPr>
          <p:cNvPr id="23" name="build05 Rounded Rectangle 22"/>
          <p:cNvSpPr/>
          <p:nvPr/>
        </p:nvSpPr>
        <p:spPr>
          <a:xfrm>
            <a:off x="548640" y="4526280"/>
            <a:ext cx="3515258" cy="640080"/>
          </a:xfrm>
          <a:prstGeom prst="roundRect">
            <a:avLst>
              <a:gd name="adj" fmla="val 30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build05 TextBox 23"/>
          <p:cNvSpPr txBox="1"/>
          <p:nvPr/>
        </p:nvSpPr>
        <p:spPr>
          <a:xfrm>
            <a:off x="621792" y="4526280"/>
            <a:ext cx="3368954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 i="0">
                <a:solidFill>
                  <a:srgbClr val="4338CA"/>
                </a:solidFill>
                <a:latin typeface="Arial"/>
              </a:rPr>
              <a:t>Claude · Claude Code</a:t>
            </a:r>
          </a:p>
        </p:txBody>
      </p:sp>
      <p:sp>
        <p:nvSpPr>
          <p:cNvPr id="25" name="build05 Rounded Rectangle 24"/>
          <p:cNvSpPr/>
          <p:nvPr/>
        </p:nvSpPr>
        <p:spPr>
          <a:xfrm>
            <a:off x="4338218" y="4526280"/>
            <a:ext cx="3515258" cy="640080"/>
          </a:xfrm>
          <a:prstGeom prst="roundRect">
            <a:avLst>
              <a:gd name="adj" fmla="val 30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build05 TextBox 25"/>
          <p:cNvSpPr txBox="1"/>
          <p:nvPr/>
        </p:nvSpPr>
        <p:spPr>
          <a:xfrm>
            <a:off x="4411370" y="4526280"/>
            <a:ext cx="3368954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 i="0">
                <a:solidFill>
                  <a:srgbClr val="4338CA"/>
                </a:solidFill>
                <a:latin typeface="Arial"/>
              </a:rPr>
              <a:t>Gemini · Gemini CLI</a:t>
            </a:r>
          </a:p>
        </p:txBody>
      </p:sp>
      <p:sp>
        <p:nvSpPr>
          <p:cNvPr id="27" name="build05 Rounded Rectangle 26"/>
          <p:cNvSpPr/>
          <p:nvPr/>
        </p:nvSpPr>
        <p:spPr>
          <a:xfrm>
            <a:off x="8127796" y="4526280"/>
            <a:ext cx="3515258" cy="640080"/>
          </a:xfrm>
          <a:prstGeom prst="roundRect">
            <a:avLst>
              <a:gd name="adj" fmla="val 30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build05 TextBox 27"/>
          <p:cNvSpPr txBox="1"/>
          <p:nvPr/>
        </p:nvSpPr>
        <p:spPr>
          <a:xfrm>
            <a:off x="8200948" y="4526280"/>
            <a:ext cx="3368954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 i="0">
                <a:solidFill>
                  <a:srgbClr val="4338CA"/>
                </a:solidFill>
                <a:latin typeface="Arial"/>
              </a:rPr>
              <a:t>ChatGPT · Codex</a:t>
            </a:r>
          </a:p>
        </p:txBody>
      </p:sp>
      <p:sp>
        <p:nvSpPr>
          <p:cNvPr id="29" name="build05 TextBox 28"/>
          <p:cNvSpPr txBox="1"/>
          <p:nvPr/>
        </p:nvSpPr>
        <p:spPr>
          <a:xfrm>
            <a:off x="548640" y="539496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475569"/>
                </a:solidFill>
                <a:latin typeface="Arial"/>
              </a:rPr>
              <a:t>The builder writes Claude Code files today. Later: one shared core with a thin adapter per assistant, so an idea is never rebuilt three times.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4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8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2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6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/>
      <p:bldP spid="9" grpId="0"/>
      <p:bldP spid="10" grpId="0" animBg="1"/>
      <p:bldP spid="11" grpId="0" animBg="1"/>
      <p:bldP spid="12" grpId="0"/>
      <p:bldP spid="13" grpId="0"/>
      <p:bldP spid="14" grpId="0" animBg="1"/>
      <p:bldP spid="15" grpId="0" animBg="1"/>
      <p:bldP spid="16" grpId="0"/>
      <p:bldP spid="17" grpId="0"/>
      <p:bldP spid="18" grpId="0" animBg="1"/>
      <p:bldP spid="19" grpId="0" animBg="1"/>
      <p:bldP spid="20" grpId="0"/>
      <p:bldP spid="21" grpId="0"/>
      <p:bldP spid="22" grpId="0"/>
      <p:bldP spid="23" grpId="0" animBg="1"/>
      <p:bldP spid="24" grpId="0"/>
      <p:bldP spid="25" grpId="0" animBg="1"/>
      <p:bldP spid="26" grpId="0"/>
      <p:bldP spid="27" grpId="0" animBg="1"/>
      <p:bldP spid="28" grpId="0"/>
      <p:bldP spid="2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4338CA"/>
                </a:solidFill>
                <a:latin typeface="Arial"/>
              </a:rPr>
              <a:t>10 · INSTALLING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0F172A"/>
                </a:solidFill>
                <a:latin typeface="Arial"/>
              </a:rPr>
              <a:t>Set up each computer once, then one command per tool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 i="0">
                <a:solidFill>
                  <a:srgbClr val="475569"/>
                </a:solidFill>
                <a:latin typeface="Arial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475569"/>
                </a:solidFill>
                <a:latin typeface="Arial"/>
              </a:rPr>
              <a:t>DevExAI · proposal draft</a:t>
            </a:r>
          </a:p>
        </p:txBody>
      </p:sp>
      <p:sp>
        <p:nvSpPr>
          <p:cNvPr id="6" name="build01 Rounded Rectangle 5"/>
          <p:cNvSpPr/>
          <p:nvPr/>
        </p:nvSpPr>
        <p:spPr>
          <a:xfrm>
            <a:off x="548640" y="1600200"/>
            <a:ext cx="3515258" cy="28803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build01 TextBox 6"/>
          <p:cNvSpPr txBox="1"/>
          <p:nvPr/>
        </p:nvSpPr>
        <p:spPr>
          <a:xfrm>
            <a:off x="822959" y="1783080"/>
            <a:ext cx="296661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0F172A"/>
                </a:solidFill>
                <a:latin typeface="Arial"/>
              </a:rPr>
              <a:t>The admin, on the host</a:t>
            </a:r>
          </a:p>
        </p:txBody>
      </p:sp>
      <p:sp>
        <p:nvSpPr>
          <p:cNvPr id="8" name="build01 Rounded Rectangle 7"/>
          <p:cNvSpPr/>
          <p:nvPr/>
        </p:nvSpPr>
        <p:spPr>
          <a:xfrm>
            <a:off x="822959" y="2331720"/>
            <a:ext cx="2966618" cy="50292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build01 TextBox 8"/>
          <p:cNvSpPr txBox="1"/>
          <p:nvPr/>
        </p:nvSpPr>
        <p:spPr>
          <a:xfrm>
            <a:off x="960120" y="2331720"/>
            <a:ext cx="269229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FFFFFF"/>
                </a:solidFill>
                <a:latin typeface="Courier New"/>
              </a:rPr>
              <a:t>DevExAI-Admin-Setup.exe</a:t>
            </a:r>
          </a:p>
        </p:txBody>
      </p:sp>
      <p:sp>
        <p:nvSpPr>
          <p:cNvPr id="10" name="build01 TextBox 9"/>
          <p:cNvSpPr txBox="1"/>
          <p:nvPr/>
        </p:nvSpPr>
        <p:spPr>
          <a:xfrm>
            <a:off x="822959" y="2971800"/>
            <a:ext cx="2966618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1E293B"/>
                </a:solidFill>
                <a:latin typeface="Arial"/>
              </a:rPr>
              <a:t>No admin rights needed. </a:t>
            </a:r>
            <a:r>
              <a:rPr sz="1400" b="1" i="0">
                <a:solidFill>
                  <a:srgbClr val="0F172A"/>
                </a:solidFill>
                <a:latin typeface="Courier New"/>
              </a:rPr>
              <a:t>devexai start admin</a:t>
            </a:r>
            <a:r>
              <a:rPr sz="1400" b="0" i="0">
                <a:solidFill>
                  <a:srgbClr val="1E293B"/>
                </a:solidFill>
                <a:latin typeface="Arial"/>
              </a:rPr>
              <a:t> starts the bot and dashboard in the background and opens it; run again, it only opens the dashboard.</a:t>
            </a:r>
          </a:p>
        </p:txBody>
      </p:sp>
      <p:sp>
        <p:nvSpPr>
          <p:cNvPr id="11" name="build02 Rounded Rectangle 10"/>
          <p:cNvSpPr/>
          <p:nvPr/>
        </p:nvSpPr>
        <p:spPr>
          <a:xfrm>
            <a:off x="4338218" y="1600200"/>
            <a:ext cx="3515258" cy="28803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build02 TextBox 11"/>
          <p:cNvSpPr txBox="1"/>
          <p:nvPr/>
        </p:nvSpPr>
        <p:spPr>
          <a:xfrm>
            <a:off x="4612538" y="1783080"/>
            <a:ext cx="296661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0F172A"/>
                </a:solidFill>
                <a:latin typeface="Arial"/>
              </a:rPr>
              <a:t>Each developer, once</a:t>
            </a:r>
          </a:p>
        </p:txBody>
      </p:sp>
      <p:sp>
        <p:nvSpPr>
          <p:cNvPr id="13" name="build02 Rounded Rectangle 12"/>
          <p:cNvSpPr/>
          <p:nvPr/>
        </p:nvSpPr>
        <p:spPr>
          <a:xfrm>
            <a:off x="4612538" y="2331720"/>
            <a:ext cx="2966618" cy="50292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build02 TextBox 13"/>
          <p:cNvSpPr txBox="1"/>
          <p:nvPr/>
        </p:nvSpPr>
        <p:spPr>
          <a:xfrm>
            <a:off x="4749698" y="2331720"/>
            <a:ext cx="269229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FFFFFF"/>
                </a:solidFill>
                <a:latin typeface="Courier New"/>
              </a:rPr>
              <a:t>DevExAI-User-Setup.exe</a:t>
            </a:r>
          </a:p>
        </p:txBody>
      </p:sp>
      <p:sp>
        <p:nvSpPr>
          <p:cNvPr id="15" name="build02 TextBox 14"/>
          <p:cNvSpPr txBox="1"/>
          <p:nvPr/>
        </p:nvSpPr>
        <p:spPr>
          <a:xfrm>
            <a:off x="4612538" y="2971800"/>
            <a:ext cx="2966618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1E293B"/>
                </a:solidFill>
                <a:latin typeface="Arial"/>
              </a:rPr>
              <a:t>From the dashboard's /get page. Asks for the server, trusts the company CA, puts </a:t>
            </a:r>
            <a:r>
              <a:rPr sz="1400" b="1" i="0">
                <a:solidFill>
                  <a:srgbClr val="0F172A"/>
                </a:solidFill>
                <a:latin typeface="Courier New"/>
              </a:rPr>
              <a:t>devexai</a:t>
            </a:r>
            <a:r>
              <a:rPr sz="1400" b="0" i="0">
                <a:solidFill>
                  <a:srgbClr val="1E293B"/>
                </a:solidFill>
                <a:latin typeface="Arial"/>
              </a:rPr>
              <a:t> on PATH. No admin code inside.</a:t>
            </a:r>
          </a:p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sz="1400" b="0" i="0">
                <a:solidFill>
                  <a:srgbClr val="1E293B"/>
                </a:solidFill>
                <a:latin typeface="Arial"/>
              </a:rPr>
              <a:t>Linux: one curl | sh line from the same page.</a:t>
            </a:r>
          </a:p>
        </p:txBody>
      </p:sp>
      <p:sp>
        <p:nvSpPr>
          <p:cNvPr id="16" name="build03 Rounded Rectangle 15"/>
          <p:cNvSpPr/>
          <p:nvPr/>
        </p:nvSpPr>
        <p:spPr>
          <a:xfrm>
            <a:off x="8127796" y="1600200"/>
            <a:ext cx="3515258" cy="28803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build03 TextBox 16"/>
          <p:cNvSpPr txBox="1"/>
          <p:nvPr/>
        </p:nvSpPr>
        <p:spPr>
          <a:xfrm>
            <a:off x="8402116" y="1783080"/>
            <a:ext cx="296661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0F172A"/>
                </a:solidFill>
                <a:latin typeface="Arial"/>
              </a:rPr>
              <a:t>Each tool</a:t>
            </a:r>
          </a:p>
        </p:txBody>
      </p:sp>
      <p:sp>
        <p:nvSpPr>
          <p:cNvPr id="18" name="build03 Rounded Rectangle 17"/>
          <p:cNvSpPr/>
          <p:nvPr/>
        </p:nvSpPr>
        <p:spPr>
          <a:xfrm>
            <a:off x="8402116" y="2331720"/>
            <a:ext cx="2966618" cy="50292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build03 TextBox 18"/>
          <p:cNvSpPr txBox="1"/>
          <p:nvPr/>
        </p:nvSpPr>
        <p:spPr>
          <a:xfrm>
            <a:off x="8539276" y="2331720"/>
            <a:ext cx="269229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FFFFFF"/>
                </a:solidFill>
                <a:latin typeface="Courier New"/>
              </a:rPr>
              <a:t>devexai install &lt;tool&gt;</a:t>
            </a:r>
          </a:p>
        </p:txBody>
      </p:sp>
      <p:sp>
        <p:nvSpPr>
          <p:cNvPr id="20" name="build03 TextBox 19"/>
          <p:cNvSpPr txBox="1"/>
          <p:nvPr/>
        </p:nvSpPr>
        <p:spPr>
          <a:xfrm>
            <a:off x="8402116" y="2971800"/>
            <a:ext cx="2966618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1E293B"/>
                </a:solidFill>
                <a:latin typeface="Arial"/>
              </a:rPr>
              <a:t>Copied from the blog post. Goes into this project's .claude/, .gemini/ and .codex/ by default; </a:t>
            </a:r>
            <a:r>
              <a:rPr sz="1400" b="1" i="0">
                <a:solidFill>
                  <a:srgbClr val="0F172A"/>
                </a:solidFill>
                <a:latin typeface="Courier New"/>
              </a:rPr>
              <a:t>--global</a:t>
            </a:r>
            <a:r>
              <a:rPr sz="1400" b="0" i="0">
                <a:solidFill>
                  <a:srgbClr val="1E293B"/>
                </a:solidFill>
                <a:latin typeface="Arial"/>
              </a:rPr>
              <a:t> for your whole machine.</a:t>
            </a:r>
          </a:p>
        </p:txBody>
      </p:sp>
      <p:sp>
        <p:nvSpPr>
          <p:cNvPr id="21" name="build04 Rounded Rectangle 20"/>
          <p:cNvSpPr/>
          <p:nvPr/>
        </p:nvSpPr>
        <p:spPr>
          <a:xfrm>
            <a:off x="548640" y="4754880"/>
            <a:ext cx="3515258" cy="594360"/>
          </a:xfrm>
          <a:prstGeom prst="roundRect">
            <a:avLst>
              <a:gd name="adj" fmla="val 30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build04 TextBox 21"/>
          <p:cNvSpPr txBox="1"/>
          <p:nvPr/>
        </p:nvSpPr>
        <p:spPr>
          <a:xfrm>
            <a:off x="621792" y="4754880"/>
            <a:ext cx="3368954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 i="0">
                <a:solidFill>
                  <a:srgbClr val="0F766E"/>
                </a:solidFill>
                <a:latin typeface="Arial"/>
              </a:rPr>
              <a:t>Shows each change, asks first</a:t>
            </a:r>
          </a:p>
        </p:txBody>
      </p:sp>
      <p:sp>
        <p:nvSpPr>
          <p:cNvPr id="23" name="build04 Rounded Rectangle 22"/>
          <p:cNvSpPr/>
          <p:nvPr/>
        </p:nvSpPr>
        <p:spPr>
          <a:xfrm>
            <a:off x="4338218" y="4754880"/>
            <a:ext cx="3515258" cy="594360"/>
          </a:xfrm>
          <a:prstGeom prst="roundRect">
            <a:avLst>
              <a:gd name="adj" fmla="val 30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build04 TextBox 23"/>
          <p:cNvSpPr txBox="1"/>
          <p:nvPr/>
        </p:nvSpPr>
        <p:spPr>
          <a:xfrm>
            <a:off x="4411370" y="4754880"/>
            <a:ext cx="3368954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 i="0">
                <a:solidFill>
                  <a:srgbClr val="0F766E"/>
                </a:solidFill>
                <a:latin typeface="Arial"/>
              </a:rPr>
              <a:t>Never runs the tool's code</a:t>
            </a:r>
          </a:p>
        </p:txBody>
      </p:sp>
      <p:sp>
        <p:nvSpPr>
          <p:cNvPr id="25" name="build04 Rounded Rectangle 24"/>
          <p:cNvSpPr/>
          <p:nvPr/>
        </p:nvSpPr>
        <p:spPr>
          <a:xfrm>
            <a:off x="8127796" y="4754880"/>
            <a:ext cx="3515258" cy="594360"/>
          </a:xfrm>
          <a:prstGeom prst="roundRect">
            <a:avLst>
              <a:gd name="adj" fmla="val 30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build04 TextBox 25"/>
          <p:cNvSpPr txBox="1"/>
          <p:nvPr/>
        </p:nvSpPr>
        <p:spPr>
          <a:xfrm>
            <a:off x="8200948" y="4754880"/>
            <a:ext cx="3368954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 i="0">
                <a:solidFill>
                  <a:srgbClr val="0F766E"/>
                </a:solidFill>
                <a:latin typeface="Arial"/>
              </a:rPr>
              <a:t>Uninstall keeps your edits</a:t>
            </a:r>
          </a:p>
        </p:txBody>
      </p:sp>
      <p:sp>
        <p:nvSpPr>
          <p:cNvPr id="27" name="build04 TextBox 26"/>
          <p:cNvSpPr txBox="1"/>
          <p:nvPr/>
        </p:nvSpPr>
        <p:spPr>
          <a:xfrm>
            <a:off x="548640" y="55778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338CA"/>
                </a:solidFill>
                <a:latin typeface="Arial"/>
              </a:rPr>
              <a:t>Also: </a:t>
            </a:r>
            <a:r>
              <a:rPr sz="1400" b="1" i="0">
                <a:solidFill>
                  <a:srgbClr val="0F172A"/>
                </a:solidFill>
                <a:latin typeface="Courier New"/>
              </a:rPr>
              <a:t>devexai list</a:t>
            </a:r>
            <a:r>
              <a:rPr sz="1400" b="0" i="0">
                <a:solidFill>
                  <a:srgbClr val="475569"/>
                </a:solidFill>
                <a:latin typeface="Arial"/>
              </a:rPr>
              <a:t>, </a:t>
            </a:r>
            <a:r>
              <a:rPr sz="1400" b="1" i="0">
                <a:solidFill>
                  <a:srgbClr val="0F172A"/>
                </a:solidFill>
                <a:latin typeface="Courier New"/>
              </a:rPr>
              <a:t>devexai uninstall &lt;tool&gt;</a:t>
            </a:r>
            <a:r>
              <a:rPr sz="1400" b="0" i="0">
                <a:solidFill>
                  <a:srgbClr val="475569"/>
                </a:solidFill>
                <a:latin typeface="Arial"/>
              </a:rPr>
              <a:t>, </a:t>
            </a:r>
            <a:r>
              <a:rPr sz="1400" b="1" i="0">
                <a:solidFill>
                  <a:srgbClr val="0F172A"/>
                </a:solidFill>
                <a:latin typeface="Courier New"/>
              </a:rPr>
              <a:t>devexai update</a:t>
            </a:r>
            <a:r>
              <a:rPr sz="1400" b="0" i="0">
                <a:solidFill>
                  <a:srgbClr val="475569"/>
                </a:solidFill>
                <a:latin typeface="Arial"/>
              </a:rPr>
              <a:t>. Settings files are never edited; other files are never overwritten without --force.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8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2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 animBg="1"/>
      <p:bldP spid="9" grpId="0"/>
      <p:bldP spid="10" grpId="0"/>
      <p:bldP spid="11" grpId="0" animBg="1"/>
      <p:bldP spid="12" grpId="0"/>
      <p:bldP spid="13" grpId="0" animBg="1"/>
      <p:bldP spid="14" grpId="0"/>
      <p:bldP spid="15" grpId="0"/>
      <p:bldP spid="16" grpId="0" animBg="1"/>
      <p:bldP spid="17" grpId="0"/>
      <p:bldP spid="18" grpId="0" animBg="1"/>
      <p:bldP spid="19" grpId="0"/>
      <p:bldP spid="20" grpId="0"/>
      <p:bldP spid="21" grpId="0" animBg="1"/>
      <p:bldP spid="22" grpId="0"/>
      <p:bldP spid="23" grpId="0" animBg="1"/>
      <p:bldP spid="24" grpId="0"/>
      <p:bldP spid="25" grpId="0" animBg="1"/>
      <p:bldP spid="26" grpId="0"/>
      <p:bldP spid="2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4338CA"/>
                </a:solidFill>
                <a:latin typeface="Arial"/>
              </a:rPr>
              <a:t>11 · WHICH AI DOES WHAT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0F172A"/>
                </a:solidFill>
                <a:latin typeface="Arial"/>
              </a:rPr>
              <a:t>Opus thinks and reviews; cheaper models will 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 i="0">
                <a:solidFill>
                  <a:srgbClr val="475569"/>
                </a:solidFill>
                <a:latin typeface="Arial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475569"/>
                </a:solidFill>
                <a:latin typeface="Arial"/>
              </a:rPr>
              <a:t>DevExAI · proposal draft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1672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34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879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Job</a:t>
                      </a:r>
                    </a:p>
                  </a:txBody>
                  <a:tcPr marL="109728" marR="109728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Model</a:t>
                      </a:r>
                    </a:p>
                  </a:txBody>
                  <a:tcPr marL="109728" marR="109728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Why</a:t>
                      </a:r>
                    </a:p>
                  </a:txBody>
                  <a:tcPr marL="109728" marR="109728"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0F172A"/>
                          </a:solidFill>
                          <a:latin typeface="Arial"/>
                        </a:rPr>
                        <a:t>Safety gate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E293B"/>
                          </a:solidFill>
                          <a:latin typeface="Arial"/>
                        </a:rPr>
                        <a:t>Claude Opus; malware and secret scanners to add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E293B"/>
                          </a:solidFill>
                          <a:latin typeface="Arial"/>
                        </a:rPr>
                        <a:t>Safety mistakes are expensive.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0F172A"/>
                          </a:solidFill>
                          <a:latin typeface="Arial"/>
                        </a:rPr>
                        <a:t>Research &amp; planning</a:t>
                      </a:r>
                    </a:p>
                  </a:txBody>
                  <a:tcPr marL="109728" marR="10972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E293B"/>
                          </a:solidFill>
                          <a:latin typeface="Arial"/>
                        </a:rPr>
                        <a:t>Claude Opus</a:t>
                      </a:r>
                    </a:p>
                  </a:txBody>
                  <a:tcPr marL="109728" marR="10972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E293B"/>
                          </a:solidFill>
                          <a:latin typeface="Arial"/>
                        </a:rPr>
                        <a:t>Best reasoning; thinking, not bulk typing.</a:t>
                      </a:r>
                    </a:p>
                  </a:txBody>
                  <a:tcPr marL="109728" marR="109728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0F172A"/>
                          </a:solidFill>
                          <a:latin typeface="Arial"/>
                        </a:rPr>
                        <a:t>Writing code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E293B"/>
                          </a:solidFill>
                          <a:latin typeface="Arial"/>
                        </a:rPr>
                        <a:t>Claude Opus today; Gemini Flash or a local model planned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E293B"/>
                          </a:solidFill>
                          <a:latin typeface="Arial"/>
                        </a:rPr>
                        <a:t>Cheap and fast at following a clear plan.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0F172A"/>
                          </a:solidFill>
                          <a:latin typeface="Arial"/>
                        </a:rPr>
                        <a:t>Code review</a:t>
                      </a:r>
                    </a:p>
                  </a:txBody>
                  <a:tcPr marL="109728" marR="10972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4338CA"/>
                          </a:solidFill>
                          <a:latin typeface="Arial"/>
                        </a:rPr>
                        <a:t>Claude Opus only</a:t>
                      </a:r>
                    </a:p>
                  </a:txBody>
                  <a:tcPr marL="109728" marR="10972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E293B"/>
                          </a:solidFill>
                          <a:latin typeface="Arial"/>
                        </a:rPr>
                        <a:t>A cheaper model never reviews code or its own work.</a:t>
                      </a:r>
                    </a:p>
                  </a:txBody>
                  <a:tcPr marL="109728" marR="109728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0F172A"/>
                          </a:solidFill>
                          <a:latin typeface="Arial"/>
                        </a:rPr>
                        <a:t>Blog post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E293B"/>
                          </a:solidFill>
                          <a:latin typeface="Arial"/>
                        </a:rPr>
                        <a:t>Written from the approved plan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E293B"/>
                          </a:solidFill>
                          <a:latin typeface="Arial"/>
                        </a:rPr>
                        <a:t>No extra model needed.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0F172A"/>
                          </a:solidFill>
                          <a:latin typeface="Arial"/>
                        </a:rPr>
                        <a:t>Experiments / evals</a:t>
                      </a:r>
                    </a:p>
                  </a:txBody>
                  <a:tcPr marL="109728" marR="10972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E293B"/>
                          </a:solidFill>
                          <a:latin typeface="Arial"/>
                        </a:rPr>
                        <a:t>Local models on an optional 24 GB GPU</a:t>
                      </a:r>
                    </a:p>
                  </a:txBody>
                  <a:tcPr marL="109728" marR="10972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E293B"/>
                          </a:solidFill>
                          <a:latin typeface="Arial"/>
                        </a:rPr>
                        <a:t>Free to run once the GPU is bought.</a:t>
                      </a:r>
                    </a:p>
                  </a:txBody>
                  <a:tcPr marL="109728" marR="109728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4338CA"/>
                </a:solidFill>
                <a:latin typeface="Arial"/>
              </a:rPr>
              <a:t>12 · BUILT AS A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0F172A"/>
                </a:solidFill>
                <a:latin typeface="Arial"/>
              </a:rPr>
              <a:t>Fits any company's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 i="0">
                <a:solidFill>
                  <a:srgbClr val="475569"/>
                </a:solidFill>
                <a:latin typeface="Arial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475569"/>
                </a:solidFill>
                <a:latin typeface="Arial"/>
              </a:rPr>
              <a:t>DevExAI · proposal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475569"/>
                </a:solidFill>
                <a:latin typeface="Arial"/>
              </a:rPr>
              <a:t>Each company picks its own parts in one settings file. The core flow stays the same.</a:t>
            </a:r>
          </a:p>
        </p:txBody>
      </p:sp>
      <p:sp>
        <p:nvSpPr>
          <p:cNvPr id="7" name="build01 Rounded Rectangle 6"/>
          <p:cNvSpPr/>
          <p:nvPr/>
        </p:nvSpPr>
        <p:spPr>
          <a:xfrm>
            <a:off x="548640" y="1874519"/>
            <a:ext cx="3154680" cy="12801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build01 TextBox 7"/>
          <p:cNvSpPr txBox="1"/>
          <p:nvPr/>
        </p:nvSpPr>
        <p:spPr>
          <a:xfrm>
            <a:off x="777240" y="2011679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0F172A"/>
                </a:solidFill>
                <a:latin typeface="Arial"/>
              </a:rPr>
              <a:t>Chat platform</a:t>
            </a:r>
          </a:p>
        </p:txBody>
      </p:sp>
      <p:sp>
        <p:nvSpPr>
          <p:cNvPr id="9" name="build01 TextBox 8"/>
          <p:cNvSpPr txBox="1"/>
          <p:nvPr/>
        </p:nvSpPr>
        <p:spPr>
          <a:xfrm>
            <a:off x="777240" y="2377439"/>
            <a:ext cx="2743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75569"/>
                </a:solidFill>
                <a:latin typeface="Arial"/>
              </a:rPr>
              <a:t>Slack today; Teams, Google Chat, Discord and more through a small adapter</a:t>
            </a:r>
          </a:p>
        </p:txBody>
      </p:sp>
      <p:sp>
        <p:nvSpPr>
          <p:cNvPr id="10" name="build01 Rounded Rectangle 9"/>
          <p:cNvSpPr/>
          <p:nvPr/>
        </p:nvSpPr>
        <p:spPr>
          <a:xfrm>
            <a:off x="3886200" y="1874519"/>
            <a:ext cx="3154680" cy="12801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build01 TextBox 10"/>
          <p:cNvSpPr txBox="1"/>
          <p:nvPr/>
        </p:nvSpPr>
        <p:spPr>
          <a:xfrm>
            <a:off x="4114800" y="2011679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0F172A"/>
                </a:solidFill>
                <a:latin typeface="Arial"/>
              </a:rPr>
              <a:t>AI accounts</a:t>
            </a:r>
          </a:p>
        </p:txBody>
      </p:sp>
      <p:sp>
        <p:nvSpPr>
          <p:cNvPr id="12" name="build01 TextBox 11"/>
          <p:cNvSpPr txBox="1"/>
          <p:nvPr/>
        </p:nvSpPr>
        <p:spPr>
          <a:xfrm>
            <a:off x="4114800" y="2377439"/>
            <a:ext cx="2743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75569"/>
                </a:solidFill>
                <a:latin typeface="Arial"/>
              </a:rPr>
              <a:t>Claude today; Gemini and ChatGPT next — subscriptions or API keys</a:t>
            </a:r>
          </a:p>
        </p:txBody>
      </p:sp>
      <p:sp>
        <p:nvSpPr>
          <p:cNvPr id="13" name="build01 Rounded Rectangle 12"/>
          <p:cNvSpPr/>
          <p:nvPr/>
        </p:nvSpPr>
        <p:spPr>
          <a:xfrm>
            <a:off x="548640" y="3291839"/>
            <a:ext cx="3154680" cy="12801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build01 TextBox 13"/>
          <p:cNvSpPr txBox="1"/>
          <p:nvPr/>
        </p:nvSpPr>
        <p:spPr>
          <a:xfrm>
            <a:off x="777240" y="3428999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0F172A"/>
                </a:solidFill>
                <a:latin typeface="Arial"/>
              </a:rPr>
              <a:t>Code host</a:t>
            </a:r>
          </a:p>
        </p:txBody>
      </p:sp>
      <p:sp>
        <p:nvSpPr>
          <p:cNvPr id="15" name="build01 TextBox 14"/>
          <p:cNvSpPr txBox="1"/>
          <p:nvPr/>
        </p:nvSpPr>
        <p:spPr>
          <a:xfrm>
            <a:off x="777240" y="3794759"/>
            <a:ext cx="2743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75569"/>
                </a:solidFill>
                <a:latin typeface="Arial"/>
              </a:rPr>
              <a:t>GitHub, GitLab, Bitbucket, Azure DevOps, self-hosted Git (later)</a:t>
            </a:r>
          </a:p>
        </p:txBody>
      </p:sp>
      <p:sp>
        <p:nvSpPr>
          <p:cNvPr id="16" name="build01 Rounded Rectangle 15"/>
          <p:cNvSpPr/>
          <p:nvPr/>
        </p:nvSpPr>
        <p:spPr>
          <a:xfrm>
            <a:off x="3886200" y="3291839"/>
            <a:ext cx="3154680" cy="12801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build01 TextBox 16"/>
          <p:cNvSpPr txBox="1"/>
          <p:nvPr/>
        </p:nvSpPr>
        <p:spPr>
          <a:xfrm>
            <a:off x="4114800" y="3428999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0F172A"/>
                </a:solidFill>
                <a:latin typeface="Arial"/>
              </a:rPr>
              <a:t>Secret store</a:t>
            </a:r>
          </a:p>
        </p:txBody>
      </p:sp>
      <p:sp>
        <p:nvSpPr>
          <p:cNvPr id="18" name="build01 TextBox 17"/>
          <p:cNvSpPr txBox="1"/>
          <p:nvPr/>
        </p:nvSpPr>
        <p:spPr>
          <a:xfrm>
            <a:off x="4114800" y="3794759"/>
            <a:ext cx="2743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75569"/>
                </a:solidFill>
                <a:latin typeface="Arial"/>
              </a:rPr>
              <a:t>A secret file on the server today; Vault or a cloud secret manager</a:t>
            </a:r>
          </a:p>
        </p:txBody>
      </p:sp>
      <p:sp>
        <p:nvSpPr>
          <p:cNvPr id="19" name="build01 Rounded Rectangle 18"/>
          <p:cNvSpPr/>
          <p:nvPr/>
        </p:nvSpPr>
        <p:spPr>
          <a:xfrm>
            <a:off x="548640" y="4709160"/>
            <a:ext cx="3154680" cy="12801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build01 TextBox 19"/>
          <p:cNvSpPr txBox="1"/>
          <p:nvPr/>
        </p:nvSpPr>
        <p:spPr>
          <a:xfrm>
            <a:off x="777240" y="484632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0F172A"/>
                </a:solidFill>
                <a:latin typeface="Arial"/>
              </a:rPr>
              <a:t>Blog / website</a:t>
            </a:r>
          </a:p>
        </p:txBody>
      </p:sp>
      <p:sp>
        <p:nvSpPr>
          <p:cNvPr id="21" name="build01 TextBox 20"/>
          <p:cNvSpPr txBox="1"/>
          <p:nvPr/>
        </p:nvSpPr>
        <p:spPr>
          <a:xfrm>
            <a:off x="777240" y="5212080"/>
            <a:ext cx="2743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75569"/>
                </a:solidFill>
                <a:latin typeface="Arial"/>
              </a:rPr>
              <a:t>Built into the dashboard; posts are Markdown files any site can show</a:t>
            </a:r>
          </a:p>
        </p:txBody>
      </p:sp>
      <p:sp>
        <p:nvSpPr>
          <p:cNvPr id="22" name="build01 Rounded Rectangle 21"/>
          <p:cNvSpPr/>
          <p:nvPr/>
        </p:nvSpPr>
        <p:spPr>
          <a:xfrm>
            <a:off x="3886200" y="4709160"/>
            <a:ext cx="3154680" cy="12801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build01 TextBox 22"/>
          <p:cNvSpPr txBox="1"/>
          <p:nvPr/>
        </p:nvSpPr>
        <p:spPr>
          <a:xfrm>
            <a:off x="4114800" y="484632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0F172A"/>
                </a:solidFill>
                <a:latin typeface="Arial"/>
              </a:rPr>
              <a:t>Where it runs</a:t>
            </a:r>
          </a:p>
        </p:txBody>
      </p:sp>
      <p:sp>
        <p:nvSpPr>
          <p:cNvPr id="24" name="build01 TextBox 23"/>
          <p:cNvSpPr txBox="1"/>
          <p:nvPr/>
        </p:nvSpPr>
        <p:spPr>
          <a:xfrm>
            <a:off x="4114800" y="5212080"/>
            <a:ext cx="2743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75569"/>
                </a:solidFill>
                <a:latin typeface="Arial"/>
              </a:rPr>
              <a:t>The company's own server, from a Windows or Linux package that updates itself</a:t>
            </a:r>
          </a:p>
        </p:txBody>
      </p:sp>
      <p:sp>
        <p:nvSpPr>
          <p:cNvPr id="25" name="build02 Rounded Rectangle 24"/>
          <p:cNvSpPr/>
          <p:nvPr/>
        </p:nvSpPr>
        <p:spPr>
          <a:xfrm>
            <a:off x="7360920" y="1874519"/>
            <a:ext cx="4282135" cy="4114800"/>
          </a:xfrm>
          <a:prstGeom prst="roundRect">
            <a:avLst>
              <a:gd name="adj" fmla="val 6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build02 TextBox 25"/>
          <p:cNvSpPr txBox="1"/>
          <p:nvPr/>
        </p:nvSpPr>
        <p:spPr>
          <a:xfrm>
            <a:off x="7635240" y="2011680"/>
            <a:ext cx="373349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4338CA"/>
                </a:solidFill>
                <a:latin typeface="Arial"/>
              </a:rPr>
              <a:t>Account pool (planned)</a:t>
            </a:r>
          </a:p>
        </p:txBody>
      </p:sp>
      <p:sp>
        <p:nvSpPr>
          <p:cNvPr id="27" name="build02 TextBox 26"/>
          <p:cNvSpPr txBox="1"/>
          <p:nvPr/>
        </p:nvSpPr>
        <p:spPr>
          <a:xfrm>
            <a:off x="7635240" y="2514600"/>
            <a:ext cx="3733495" cy="3383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E293B"/>
                </a:solidFill>
                <a:latin typeface="Arial"/>
              </a:rPr>
              <a:t>• Several subscriptions and API keys per provider</a:t>
            </a:r>
          </a:p>
          <a:p>
            <a:pPr algn="l">
              <a:lnSpc>
                <a:spcPct val="110000"/>
              </a:lnSpc>
              <a:spcBef>
                <a:spcPts val="800"/>
              </a:spcBef>
            </a:pPr>
            <a:r>
              <a:rPr sz="1500" b="0" i="0">
                <a:solidFill>
                  <a:srgbClr val="1E293B"/>
                </a:solidFill>
                <a:latin typeface="Arial"/>
              </a:rPr>
              <a:t>• One hits its limit → the next takes over</a:t>
            </a:r>
          </a:p>
          <a:p>
            <a:pPr algn="l">
              <a:lnSpc>
                <a:spcPct val="110000"/>
              </a:lnSpc>
              <a:spcBef>
                <a:spcPts val="800"/>
              </a:spcBef>
            </a:pPr>
            <a:r>
              <a:rPr sz="1500" b="0" i="0">
                <a:solidFill>
                  <a:srgbClr val="1E293B"/>
                </a:solidFill>
                <a:latin typeface="Arial"/>
              </a:rPr>
              <a:t>• Usage and monthly budget tracked per account</a:t>
            </a:r>
          </a:p>
          <a:p>
            <a:pPr algn="l">
              <a:lnSpc>
                <a:spcPct val="110000"/>
              </a:lnSpc>
              <a:spcBef>
                <a:spcPts val="800"/>
              </a:spcBef>
            </a:pPr>
            <a:r>
              <a:rPr sz="1500" b="0" i="0">
                <a:solidFill>
                  <a:srgbClr val="1E293B"/>
                </a:solidFill>
                <a:latin typeface="Arial"/>
              </a:rPr>
              <a:t>• Keys live in the secret store, never in chat</a:t>
            </a:r>
          </a:p>
          <a:p>
            <a:pPr algn="l">
              <a:lnSpc>
                <a:spcPct val="110000"/>
              </a:lnSpc>
              <a:spcBef>
                <a:spcPts val="800"/>
              </a:spcBef>
            </a:pPr>
            <a:r>
              <a:rPr sz="1500" b="0" i="0">
                <a:solidFill>
                  <a:srgbClr val="1E293B"/>
                </a:solidFill>
                <a:latin typeface="Arial"/>
              </a:rPr>
              <a:t>• Never swaps to a weaker reviewer: review stays Claude Opus</a:t>
            </a:r>
          </a:p>
          <a:p>
            <a:pPr algn="l">
              <a:lnSpc>
                <a:spcPct val="110000"/>
              </a:lnSpc>
              <a:spcBef>
                <a:spcPts val="800"/>
              </a:spcBef>
            </a:pPr>
            <a:r>
              <a:rPr sz="1500" b="0" i="0">
                <a:solidFill>
                  <a:srgbClr val="1E293B"/>
                </a:solidFill>
                <a:latin typeface="Arial"/>
              </a:rPr>
              <a:t>• Check your plans allow a shared bot (business, enterprise or API)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40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/>
      <p:bldP spid="10" grpId="0" animBg="1"/>
      <p:bldP spid="11" grpId="0"/>
      <p:bldP spid="12" grpId="0"/>
      <p:bldP spid="13" grpId="0" animBg="1"/>
      <p:bldP spid="14" grpId="0"/>
      <p:bldP spid="15" grpId="0"/>
      <p:bldP spid="16" grpId="0" animBg="1"/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4338CA"/>
                </a:solidFill>
                <a:latin typeface="Arial"/>
              </a:rPr>
              <a:t>13 · COST AND RESOURCES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0F172A"/>
                </a:solidFill>
                <a:latin typeface="Arial"/>
              </a:rPr>
              <a:t>Mostly plans we already pay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 i="0">
                <a:solidFill>
                  <a:srgbClr val="475569"/>
                </a:solidFill>
                <a:latin typeface="Arial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475569"/>
                </a:solidFill>
                <a:latin typeface="Arial"/>
              </a:rPr>
              <a:t>DevExAI · proposal draft</a:t>
            </a:r>
          </a:p>
        </p:txBody>
      </p:sp>
      <p:sp>
        <p:nvSpPr>
          <p:cNvPr id="6" name="build01 Rounded Rectangle 5"/>
          <p:cNvSpPr/>
          <p:nvPr/>
        </p:nvSpPr>
        <p:spPr>
          <a:xfrm>
            <a:off x="548640" y="1600200"/>
            <a:ext cx="3515258" cy="3749039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build01 Rectangle 6"/>
          <p:cNvSpPr/>
          <p:nvPr/>
        </p:nvSpPr>
        <p:spPr>
          <a:xfrm>
            <a:off x="548640" y="1600200"/>
            <a:ext cx="3515258" cy="82296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build01 TextBox 7"/>
          <p:cNvSpPr txBox="1"/>
          <p:nvPr/>
        </p:nvSpPr>
        <p:spPr>
          <a:xfrm>
            <a:off x="822959" y="1828800"/>
            <a:ext cx="296661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4338CA"/>
                </a:solidFill>
                <a:latin typeface="Arial"/>
              </a:rPr>
              <a:t>Our own setup</a:t>
            </a:r>
          </a:p>
        </p:txBody>
      </p:sp>
      <p:sp>
        <p:nvSpPr>
          <p:cNvPr id="9" name="build01 TextBox 8"/>
          <p:cNvSpPr txBox="1"/>
          <p:nvPr/>
        </p:nvSpPr>
        <p:spPr>
          <a:xfrm>
            <a:off x="822959" y="2377440"/>
            <a:ext cx="2966618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E293B"/>
                </a:solidFill>
                <a:latin typeface="Arial"/>
              </a:rPr>
              <a:t>• Company enterprise Claude and Gemini plans</a:t>
            </a:r>
          </a:p>
          <a:p>
            <a:pPr algn="l">
              <a:lnSpc>
                <a:spcPct val="110000"/>
              </a:lnSpc>
              <a:spcBef>
                <a:spcPts val="1000"/>
              </a:spcBef>
            </a:pPr>
            <a:r>
              <a:rPr sz="1500" b="0" i="0">
                <a:solidFill>
                  <a:srgbClr val="1E293B"/>
                </a:solidFill>
                <a:latin typeface="Arial"/>
              </a:rPr>
              <a:t>• Covers a shared company bot, code under company terms</a:t>
            </a:r>
          </a:p>
          <a:p>
            <a:pPr algn="l">
              <a:lnSpc>
                <a:spcPct val="110000"/>
              </a:lnSpc>
              <a:spcBef>
                <a:spcPts val="1000"/>
              </a:spcBef>
            </a:pPr>
            <a:r>
              <a:rPr sz="1500" b="0" i="0">
                <a:solidFill>
                  <a:srgbClr val="1E293B"/>
                </a:solidFill>
                <a:latin typeface="Arial"/>
              </a:rPr>
              <a:t>• Opus planning and review use the most quota</a:t>
            </a:r>
          </a:p>
          <a:p>
            <a:pPr algn="l">
              <a:lnSpc>
                <a:spcPct val="110000"/>
              </a:lnSpc>
              <a:spcBef>
                <a:spcPts val="1000"/>
              </a:spcBef>
            </a:pPr>
            <a:r>
              <a:rPr sz="1500" b="0" i="0">
                <a:solidFill>
                  <a:srgbClr val="1E293B"/>
                </a:solidFill>
                <a:latin typeface="Arial"/>
              </a:rPr>
              <a:t>• Add accounts or keys to the pool when busy</a:t>
            </a:r>
          </a:p>
        </p:txBody>
      </p:sp>
      <p:sp>
        <p:nvSpPr>
          <p:cNvPr id="10" name="build02 Rounded Rectangle 9"/>
          <p:cNvSpPr/>
          <p:nvPr/>
        </p:nvSpPr>
        <p:spPr>
          <a:xfrm>
            <a:off x="4338218" y="1600200"/>
            <a:ext cx="3515258" cy="3749039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build02 Rectangle 10"/>
          <p:cNvSpPr/>
          <p:nvPr/>
        </p:nvSpPr>
        <p:spPr>
          <a:xfrm>
            <a:off x="4338218" y="1600200"/>
            <a:ext cx="3515258" cy="8229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build02 TextBox 11"/>
          <p:cNvSpPr txBox="1"/>
          <p:nvPr/>
        </p:nvSpPr>
        <p:spPr>
          <a:xfrm>
            <a:off x="4612538" y="1828800"/>
            <a:ext cx="296661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B45309"/>
                </a:solidFill>
                <a:latin typeface="Arial"/>
              </a:rPr>
              <a:t>Optional extras</a:t>
            </a:r>
          </a:p>
        </p:txBody>
      </p:sp>
      <p:sp>
        <p:nvSpPr>
          <p:cNvPr id="13" name="build02 TextBox 12"/>
          <p:cNvSpPr txBox="1"/>
          <p:nvPr/>
        </p:nvSpPr>
        <p:spPr>
          <a:xfrm>
            <a:off x="4612538" y="2377440"/>
            <a:ext cx="2966618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E293B"/>
                </a:solidFill>
                <a:latin typeface="Arial"/>
              </a:rPr>
              <a:t>• DeepSeek for cheap extra building — off for now</a:t>
            </a:r>
          </a:p>
          <a:p>
            <a:pPr algn="l">
              <a:lnSpc>
                <a:spcPct val="110000"/>
              </a:lnSpc>
              <a:spcBef>
                <a:spcPts val="1000"/>
              </a:spcBef>
            </a:pPr>
            <a:r>
              <a:rPr sz="1500" b="0" i="0">
                <a:solidFill>
                  <a:srgbClr val="1E293B"/>
                </a:solidFill>
                <a:latin typeface="Arial"/>
              </a:rPr>
              <a:t>• One machine with a 24 GB GPU for local models and testing</a:t>
            </a:r>
          </a:p>
        </p:txBody>
      </p:sp>
      <p:sp>
        <p:nvSpPr>
          <p:cNvPr id="14" name="build03 Rounded Rectangle 13"/>
          <p:cNvSpPr/>
          <p:nvPr/>
        </p:nvSpPr>
        <p:spPr>
          <a:xfrm>
            <a:off x="8127796" y="1600200"/>
            <a:ext cx="3515258" cy="3749039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build03 Rectangle 14"/>
          <p:cNvSpPr/>
          <p:nvPr/>
        </p:nvSpPr>
        <p:spPr>
          <a:xfrm>
            <a:off x="8127796" y="1600200"/>
            <a:ext cx="3515258" cy="8229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build03 TextBox 15"/>
          <p:cNvSpPr txBox="1"/>
          <p:nvPr/>
        </p:nvSpPr>
        <p:spPr>
          <a:xfrm>
            <a:off x="8402116" y="1828800"/>
            <a:ext cx="296661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0F766E"/>
                </a:solidFill>
                <a:latin typeface="Arial"/>
              </a:rPr>
              <a:t>Also needed</a:t>
            </a:r>
          </a:p>
        </p:txBody>
      </p:sp>
      <p:sp>
        <p:nvSpPr>
          <p:cNvPr id="17" name="build03 TextBox 16"/>
          <p:cNvSpPr txBox="1"/>
          <p:nvPr/>
        </p:nvSpPr>
        <p:spPr>
          <a:xfrm>
            <a:off x="8402116" y="2377440"/>
            <a:ext cx="2966618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E293B"/>
                </a:solidFill>
                <a:latin typeface="Arial"/>
              </a:rPr>
              <a:t>• A bot app on the chat platform (usually free)</a:t>
            </a:r>
          </a:p>
          <a:p>
            <a:pPr algn="l">
              <a:lnSpc>
                <a:spcPct val="110000"/>
              </a:lnSpc>
              <a:spcBef>
                <a:spcPts val="1000"/>
              </a:spcBef>
            </a:pPr>
            <a:r>
              <a:rPr sz="1500" b="0" i="0">
                <a:solidFill>
                  <a:srgbClr val="1E293B"/>
                </a:solidFill>
                <a:latin typeface="Arial"/>
              </a:rPr>
              <a:t>• A small always-on server on the company network</a:t>
            </a:r>
          </a:p>
          <a:p>
            <a:pPr algn="l">
              <a:lnSpc>
                <a:spcPct val="110000"/>
              </a:lnSpc>
              <a:spcBef>
                <a:spcPts val="1000"/>
              </a:spcBef>
            </a:pPr>
            <a:r>
              <a:rPr sz="1500" b="0" i="0">
                <a:solidFill>
                  <a:srgbClr val="1E293B"/>
                </a:solidFill>
                <a:latin typeface="Arial"/>
              </a:rPr>
              <a:t>• A company Git repository for the tools</a:t>
            </a:r>
          </a:p>
          <a:p>
            <a:pPr algn="l">
              <a:lnSpc>
                <a:spcPct val="110000"/>
              </a:lnSpc>
              <a:spcBef>
                <a:spcPts val="1000"/>
              </a:spcBef>
            </a:pPr>
            <a:r>
              <a:rPr sz="1500" b="0" i="0">
                <a:solidFill>
                  <a:srgbClr val="1E293B"/>
                </a:solidFill>
                <a:latin typeface="Arial"/>
              </a:rPr>
              <a:t>• The blog, already built into the dashboard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4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8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/>
      <p:bldP spid="9" grpId="0"/>
      <p:bldP spid="10" grpId="0" animBg="1"/>
      <p:bldP spid="11" grpId="0" animBg="1"/>
      <p:bldP spid="12" grpId="0"/>
      <p:bldP spid="13" grpId="0"/>
      <p:bldP spid="14" grpId="0" animBg="1"/>
      <p:bldP spid="15" grpId="0" animBg="1"/>
      <p:bldP spid="16" grpId="0"/>
      <p:bldP spid="1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4338CA"/>
                </a:solidFill>
                <a:latin typeface="Arial"/>
              </a:rPr>
              <a:t>14 · RULES THE BOT ALWAYS FOLLOWS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0F172A"/>
                </a:solidFill>
                <a:latin typeface="Arial"/>
              </a:rPr>
              <a:t>Seven rules, no exceptions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 i="0">
                <a:solidFill>
                  <a:srgbClr val="475569"/>
                </a:solidFill>
                <a:latin typeface="Arial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475569"/>
                </a:solidFill>
                <a:latin typeface="Arial"/>
              </a:rPr>
              <a:t>DevExAI · proposal draft</a:t>
            </a:r>
          </a:p>
        </p:txBody>
      </p:sp>
      <p:sp>
        <p:nvSpPr>
          <p:cNvPr id="6" name="build01 Rounded Rectangle 5"/>
          <p:cNvSpPr/>
          <p:nvPr/>
        </p:nvSpPr>
        <p:spPr>
          <a:xfrm>
            <a:off x="548640" y="164592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build01 TextBox 6"/>
          <p:cNvSpPr txBox="1"/>
          <p:nvPr/>
        </p:nvSpPr>
        <p:spPr>
          <a:xfrm>
            <a:off x="548640" y="164592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build01 TextBox 7"/>
          <p:cNvSpPr txBox="1"/>
          <p:nvPr/>
        </p:nvSpPr>
        <p:spPr>
          <a:xfrm>
            <a:off x="1417319" y="1554480"/>
            <a:ext cx="45262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 i="0">
                <a:solidFill>
                  <a:srgbClr val="1E293B"/>
                </a:solidFill>
                <a:latin typeface="Arial"/>
              </a:rPr>
              <a:t>Nothing starts until the safety gate passes.</a:t>
            </a:r>
          </a:p>
        </p:txBody>
      </p:sp>
      <p:sp>
        <p:nvSpPr>
          <p:cNvPr id="9" name="build02 Rounded Rectangle 8"/>
          <p:cNvSpPr/>
          <p:nvPr/>
        </p:nvSpPr>
        <p:spPr>
          <a:xfrm>
            <a:off x="548640" y="269748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build02 TextBox 9"/>
          <p:cNvSpPr txBox="1"/>
          <p:nvPr/>
        </p:nvSpPr>
        <p:spPr>
          <a:xfrm>
            <a:off x="548640" y="269748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build02 TextBox 10"/>
          <p:cNvSpPr txBox="1"/>
          <p:nvPr/>
        </p:nvSpPr>
        <p:spPr>
          <a:xfrm>
            <a:off x="1417319" y="2606040"/>
            <a:ext cx="45262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 i="0">
                <a:solidFill>
                  <a:srgbClr val="1E293B"/>
                </a:solidFill>
                <a:latin typeface="Arial"/>
              </a:rPr>
              <a:t>Nothing paid, needing a login, or released without a maintainer's yes.</a:t>
            </a:r>
          </a:p>
        </p:txBody>
      </p:sp>
      <p:sp>
        <p:nvSpPr>
          <p:cNvPr id="12" name="build03 Rounded Rectangle 11"/>
          <p:cNvSpPr/>
          <p:nvPr/>
        </p:nvSpPr>
        <p:spPr>
          <a:xfrm>
            <a:off x="548640" y="3749039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build03 TextBox 12"/>
          <p:cNvSpPr txBox="1"/>
          <p:nvPr/>
        </p:nvSpPr>
        <p:spPr>
          <a:xfrm>
            <a:off x="548640" y="3749039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4" name="build03 TextBox 13"/>
          <p:cNvSpPr txBox="1"/>
          <p:nvPr/>
        </p:nvSpPr>
        <p:spPr>
          <a:xfrm>
            <a:off x="1417319" y="3657599"/>
            <a:ext cx="45262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 i="0">
                <a:solidFill>
                  <a:srgbClr val="1E293B"/>
                </a:solidFill>
                <a:latin typeface="Arial"/>
              </a:rPr>
              <a:t>Claude Opus reviews every line before a human sees it.</a:t>
            </a:r>
          </a:p>
        </p:txBody>
      </p:sp>
      <p:sp>
        <p:nvSpPr>
          <p:cNvPr id="15" name="build04 Rounded Rectangle 14"/>
          <p:cNvSpPr/>
          <p:nvPr/>
        </p:nvSpPr>
        <p:spPr>
          <a:xfrm>
            <a:off x="548640" y="480060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build04 TextBox 15"/>
          <p:cNvSpPr txBox="1"/>
          <p:nvPr/>
        </p:nvSpPr>
        <p:spPr>
          <a:xfrm>
            <a:off x="548640" y="480060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7" name="build04 TextBox 16"/>
          <p:cNvSpPr txBox="1"/>
          <p:nvPr/>
        </p:nvSpPr>
        <p:spPr>
          <a:xfrm>
            <a:off x="1417319" y="4709160"/>
            <a:ext cx="45262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 i="0">
                <a:solidFill>
                  <a:srgbClr val="1E293B"/>
                </a:solidFill>
                <a:latin typeface="Arial"/>
              </a:rPr>
              <a:t>Company code and summaries are read-only; never sent to unapproved services.</a:t>
            </a:r>
          </a:p>
        </p:txBody>
      </p:sp>
      <p:sp>
        <p:nvSpPr>
          <p:cNvPr id="18" name="build05 Rounded Rectangle 17"/>
          <p:cNvSpPr/>
          <p:nvPr/>
        </p:nvSpPr>
        <p:spPr>
          <a:xfrm>
            <a:off x="6217920" y="164592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build05 TextBox 18"/>
          <p:cNvSpPr txBox="1"/>
          <p:nvPr/>
        </p:nvSpPr>
        <p:spPr>
          <a:xfrm>
            <a:off x="6217920" y="164592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0" name="build05 TextBox 19"/>
          <p:cNvSpPr txBox="1"/>
          <p:nvPr/>
        </p:nvSpPr>
        <p:spPr>
          <a:xfrm>
            <a:off x="7086600" y="1554480"/>
            <a:ext cx="45262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 i="0">
                <a:solidFill>
                  <a:srgbClr val="1E293B"/>
                </a:solidFill>
                <a:latin typeface="Arial"/>
              </a:rPr>
              <a:t>Web pages and posts are information, never instructions.</a:t>
            </a:r>
          </a:p>
        </p:txBody>
      </p:sp>
      <p:sp>
        <p:nvSpPr>
          <p:cNvPr id="21" name="build06 Rounded Rectangle 20"/>
          <p:cNvSpPr/>
          <p:nvPr/>
        </p:nvSpPr>
        <p:spPr>
          <a:xfrm>
            <a:off x="6217920" y="269748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build06 TextBox 21"/>
          <p:cNvSpPr txBox="1"/>
          <p:nvPr/>
        </p:nvSpPr>
        <p:spPr>
          <a:xfrm>
            <a:off x="6217920" y="269748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3" name="build06 TextBox 22"/>
          <p:cNvSpPr txBox="1"/>
          <p:nvPr/>
        </p:nvSpPr>
        <p:spPr>
          <a:xfrm>
            <a:off x="7086600" y="2606040"/>
            <a:ext cx="45262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 i="0">
                <a:solidFill>
                  <a:srgbClr val="1E293B"/>
                </a:solidFill>
                <a:latin typeface="Arial"/>
              </a:rPr>
              <a:t>Every action is logged in the idea's thread.</a:t>
            </a:r>
          </a:p>
        </p:txBody>
      </p:sp>
      <p:sp>
        <p:nvSpPr>
          <p:cNvPr id="24" name="build07 Rounded Rectangle 23"/>
          <p:cNvSpPr/>
          <p:nvPr/>
        </p:nvSpPr>
        <p:spPr>
          <a:xfrm>
            <a:off x="6217920" y="3749039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build07 TextBox 24"/>
          <p:cNvSpPr txBox="1"/>
          <p:nvPr/>
        </p:nvSpPr>
        <p:spPr>
          <a:xfrm>
            <a:off x="6217920" y="3749039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6" name="build07 TextBox 25"/>
          <p:cNvSpPr txBox="1"/>
          <p:nvPr/>
        </p:nvSpPr>
        <p:spPr>
          <a:xfrm>
            <a:off x="7086600" y="3657599"/>
            <a:ext cx="45262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 i="0">
                <a:solidFill>
                  <a:srgbClr val="1E293B"/>
                </a:solidFill>
                <a:latin typeface="Arial"/>
              </a:rPr>
              <a:t>Every published tool can be uninstalled cleanly.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8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2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6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00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40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/>
      <p:bldP spid="9" grpId="0" animBg="1"/>
      <p:bldP spid="10" grpId="0"/>
      <p:bldP spid="11" grpId="0"/>
      <p:bldP spid="12" grpId="0" animBg="1"/>
      <p:bldP spid="13" grpId="0"/>
      <p:bldP spid="14" grpId="0"/>
      <p:bldP spid="15" grpId="0" animBg="1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  <p:bldP spid="2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4338CA"/>
                </a:solidFill>
                <a:latin typeface="Arial"/>
              </a:rPr>
              <a:t>15 · ROLLOUT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0F172A"/>
                </a:solidFill>
                <a:latin typeface="Arial"/>
              </a:rPr>
              <a:t>The core is built; next, grow it into a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 i="0">
                <a:solidFill>
                  <a:srgbClr val="475569"/>
                </a:solidFill>
                <a:latin typeface="Arial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475569"/>
                </a:solidFill>
                <a:latin typeface="Arial"/>
              </a:rPr>
              <a:t>DevExAI · proposal draft</a:t>
            </a:r>
          </a:p>
        </p:txBody>
      </p:sp>
      <p:sp>
        <p:nvSpPr>
          <p:cNvPr id="6" name="build01 Rounded Rectangle 5"/>
          <p:cNvSpPr/>
          <p:nvPr/>
        </p:nvSpPr>
        <p:spPr>
          <a:xfrm>
            <a:off x="548640" y="1600200"/>
            <a:ext cx="2072579" cy="28803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build01 Rectangle 6"/>
          <p:cNvSpPr/>
          <p:nvPr/>
        </p:nvSpPr>
        <p:spPr>
          <a:xfrm>
            <a:off x="548640" y="1600200"/>
            <a:ext cx="2072579" cy="82296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build01 TextBox 7"/>
          <p:cNvSpPr txBox="1"/>
          <p:nvPr/>
        </p:nvSpPr>
        <p:spPr>
          <a:xfrm>
            <a:off x="731520" y="1783080"/>
            <a:ext cx="170681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338CA"/>
                </a:solidFill>
                <a:latin typeface="Arial"/>
              </a:rPr>
              <a:t>Phase 1</a:t>
            </a:r>
          </a:p>
        </p:txBody>
      </p:sp>
      <p:sp>
        <p:nvSpPr>
          <p:cNvPr id="9" name="build01 TextBox 8"/>
          <p:cNvSpPr txBox="1"/>
          <p:nvPr/>
        </p:nvSpPr>
        <p:spPr>
          <a:xfrm>
            <a:off x="731520" y="2103120"/>
            <a:ext cx="17068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0F172A"/>
                </a:solidFill>
                <a:latin typeface="Arial"/>
              </a:rPr>
              <a:t>Pilot</a:t>
            </a:r>
          </a:p>
        </p:txBody>
      </p:sp>
      <p:sp>
        <p:nvSpPr>
          <p:cNvPr id="10" name="build01 TextBox 9"/>
          <p:cNvSpPr txBox="1"/>
          <p:nvPr/>
        </p:nvSpPr>
        <p:spPr>
          <a:xfrm>
            <a:off x="731520" y="2514600"/>
            <a:ext cx="170681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0F766E"/>
                </a:solidFill>
                <a:latin typeface="Arial"/>
              </a:rPr>
              <a:t>Built</a:t>
            </a:r>
          </a:p>
        </p:txBody>
      </p:sp>
      <p:sp>
        <p:nvSpPr>
          <p:cNvPr id="11" name="build01 TextBox 10"/>
          <p:cNvSpPr txBox="1"/>
          <p:nvPr/>
        </p:nvSpPr>
        <p:spPr>
          <a:xfrm>
            <a:off x="731520" y="2880360"/>
            <a:ext cx="1706819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75569"/>
                </a:solidFill>
                <a:latin typeface="Arial"/>
              </a:rPr>
              <a:t>Slack intake (our platform), safety gate, plan, dashboard, blog post. One team.</a:t>
            </a:r>
          </a:p>
        </p:txBody>
      </p:sp>
      <p:sp>
        <p:nvSpPr>
          <p:cNvPr id="12" name="build02 Rounded Rectangle 11"/>
          <p:cNvSpPr/>
          <p:nvPr/>
        </p:nvSpPr>
        <p:spPr>
          <a:xfrm>
            <a:off x="2804099" y="1600200"/>
            <a:ext cx="2072579" cy="28803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build02 Rectangle 12"/>
          <p:cNvSpPr/>
          <p:nvPr/>
        </p:nvSpPr>
        <p:spPr>
          <a:xfrm>
            <a:off x="2804099" y="1600200"/>
            <a:ext cx="2072579" cy="82296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build02 TextBox 13"/>
          <p:cNvSpPr txBox="1"/>
          <p:nvPr/>
        </p:nvSpPr>
        <p:spPr>
          <a:xfrm>
            <a:off x="2986979" y="1783080"/>
            <a:ext cx="170681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338CA"/>
                </a:solidFill>
                <a:latin typeface="Arial"/>
              </a:rPr>
              <a:t>Phase 2</a:t>
            </a:r>
          </a:p>
        </p:txBody>
      </p:sp>
      <p:sp>
        <p:nvSpPr>
          <p:cNvPr id="15" name="build02 TextBox 14"/>
          <p:cNvSpPr txBox="1"/>
          <p:nvPr/>
        </p:nvSpPr>
        <p:spPr>
          <a:xfrm>
            <a:off x="2986979" y="2103120"/>
            <a:ext cx="17068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0F172A"/>
                </a:solidFill>
                <a:latin typeface="Arial"/>
              </a:rPr>
              <a:t>Automate</a:t>
            </a:r>
          </a:p>
        </p:txBody>
      </p:sp>
      <p:sp>
        <p:nvSpPr>
          <p:cNvPr id="16" name="build02 TextBox 15"/>
          <p:cNvSpPr txBox="1"/>
          <p:nvPr/>
        </p:nvSpPr>
        <p:spPr>
          <a:xfrm>
            <a:off x="2986979" y="2514600"/>
            <a:ext cx="170681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0F766E"/>
                </a:solidFill>
                <a:latin typeface="Arial"/>
              </a:rPr>
              <a:t>Mostly built</a:t>
            </a:r>
          </a:p>
        </p:txBody>
      </p:sp>
      <p:sp>
        <p:nvSpPr>
          <p:cNvPr id="17" name="build02 TextBox 16"/>
          <p:cNvSpPr txBox="1"/>
          <p:nvPr/>
        </p:nvSpPr>
        <p:spPr>
          <a:xfrm>
            <a:off x="2986979" y="2880360"/>
            <a:ext cx="1706819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75569"/>
                </a:solidFill>
                <a:latin typeface="Arial"/>
              </a:rPr>
              <a:t>Built: builder, Opus review, auto post, install command. Next: tests in a sandbox, account pool.</a:t>
            </a:r>
          </a:p>
        </p:txBody>
      </p:sp>
      <p:sp>
        <p:nvSpPr>
          <p:cNvPr id="18" name="build03 Rounded Rectangle 17"/>
          <p:cNvSpPr/>
          <p:nvPr/>
        </p:nvSpPr>
        <p:spPr>
          <a:xfrm>
            <a:off x="5059558" y="1600200"/>
            <a:ext cx="2072579" cy="28803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build03 Rectangle 18"/>
          <p:cNvSpPr/>
          <p:nvPr/>
        </p:nvSpPr>
        <p:spPr>
          <a:xfrm>
            <a:off x="5059558" y="1600200"/>
            <a:ext cx="2072579" cy="82296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build03 TextBox 19"/>
          <p:cNvSpPr txBox="1"/>
          <p:nvPr/>
        </p:nvSpPr>
        <p:spPr>
          <a:xfrm>
            <a:off x="5242438" y="1783080"/>
            <a:ext cx="170681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338CA"/>
                </a:solidFill>
                <a:latin typeface="Arial"/>
              </a:rPr>
              <a:t>Phase 3</a:t>
            </a:r>
          </a:p>
        </p:txBody>
      </p:sp>
      <p:sp>
        <p:nvSpPr>
          <p:cNvPr id="21" name="build03 TextBox 20"/>
          <p:cNvSpPr txBox="1"/>
          <p:nvPr/>
        </p:nvSpPr>
        <p:spPr>
          <a:xfrm>
            <a:off x="5242438" y="2103120"/>
            <a:ext cx="17068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0F172A"/>
                </a:solidFill>
                <a:latin typeface="Arial"/>
              </a:rPr>
              <a:t>Company-wide</a:t>
            </a:r>
          </a:p>
        </p:txBody>
      </p:sp>
      <p:sp>
        <p:nvSpPr>
          <p:cNvPr id="22" name="build03 TextBox 21"/>
          <p:cNvSpPr txBox="1"/>
          <p:nvPr/>
        </p:nvSpPr>
        <p:spPr>
          <a:xfrm>
            <a:off x="5242438" y="2514600"/>
            <a:ext cx="170681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B45309"/>
                </a:solidFill>
                <a:latin typeface="Arial"/>
              </a:rPr>
              <a:t>Next</a:t>
            </a:r>
          </a:p>
        </p:txBody>
      </p:sp>
      <p:sp>
        <p:nvSpPr>
          <p:cNvPr id="23" name="build03 TextBox 22"/>
          <p:cNvSpPr txBox="1"/>
          <p:nvPr/>
        </p:nvSpPr>
        <p:spPr>
          <a:xfrm>
            <a:off x="5242438" y="2880360"/>
            <a:ext cx="1706819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75569"/>
                </a:solidFill>
                <a:latin typeface="Arial"/>
              </a:rPr>
              <a:t>All teams, maintainer rotation, more AI assistants.</a:t>
            </a:r>
          </a:p>
        </p:txBody>
      </p:sp>
      <p:sp>
        <p:nvSpPr>
          <p:cNvPr id="24" name="build04 Rounded Rectangle 23"/>
          <p:cNvSpPr/>
          <p:nvPr/>
        </p:nvSpPr>
        <p:spPr>
          <a:xfrm>
            <a:off x="7315017" y="1600200"/>
            <a:ext cx="2072579" cy="28803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build04 Rectangle 24"/>
          <p:cNvSpPr/>
          <p:nvPr/>
        </p:nvSpPr>
        <p:spPr>
          <a:xfrm>
            <a:off x="7315017" y="1600200"/>
            <a:ext cx="2072579" cy="82296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build04 TextBox 25"/>
          <p:cNvSpPr txBox="1"/>
          <p:nvPr/>
        </p:nvSpPr>
        <p:spPr>
          <a:xfrm>
            <a:off x="7497897" y="1783080"/>
            <a:ext cx="170681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338CA"/>
                </a:solidFill>
                <a:latin typeface="Arial"/>
              </a:rPr>
              <a:t>Phase 4</a:t>
            </a:r>
          </a:p>
        </p:txBody>
      </p:sp>
      <p:sp>
        <p:nvSpPr>
          <p:cNvPr id="27" name="build04 TextBox 26"/>
          <p:cNvSpPr txBox="1"/>
          <p:nvPr/>
        </p:nvSpPr>
        <p:spPr>
          <a:xfrm>
            <a:off x="7497897" y="2103120"/>
            <a:ext cx="17068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0F172A"/>
                </a:solidFill>
                <a:latin typeface="Arial"/>
              </a:rPr>
              <a:t>Product</a:t>
            </a:r>
          </a:p>
        </p:txBody>
      </p:sp>
      <p:sp>
        <p:nvSpPr>
          <p:cNvPr id="28" name="build04 TextBox 27"/>
          <p:cNvSpPr txBox="1"/>
          <p:nvPr/>
        </p:nvSpPr>
        <p:spPr>
          <a:xfrm>
            <a:off x="7497897" y="2514600"/>
            <a:ext cx="170681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B45309"/>
                </a:solidFill>
                <a:latin typeface="Arial"/>
              </a:rPr>
              <a:t>Started</a:t>
            </a:r>
          </a:p>
        </p:txBody>
      </p:sp>
      <p:sp>
        <p:nvSpPr>
          <p:cNvPr id="29" name="build04 TextBox 28"/>
          <p:cNvSpPr txBox="1"/>
          <p:nvPr/>
        </p:nvSpPr>
        <p:spPr>
          <a:xfrm>
            <a:off x="7497897" y="2880360"/>
            <a:ext cx="1706819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75569"/>
                </a:solidFill>
                <a:latin typeface="Arial"/>
              </a:rPr>
              <a:t>Windows package and updater exist. Next: Linux, second chat platform (e.g. Teams).</a:t>
            </a:r>
          </a:p>
        </p:txBody>
      </p:sp>
      <p:sp>
        <p:nvSpPr>
          <p:cNvPr id="30" name="build05 Rounded Rectangle 29"/>
          <p:cNvSpPr/>
          <p:nvPr/>
        </p:nvSpPr>
        <p:spPr>
          <a:xfrm>
            <a:off x="9570476" y="1600200"/>
            <a:ext cx="2072579" cy="28803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build05 Rectangle 30"/>
          <p:cNvSpPr/>
          <p:nvPr/>
        </p:nvSpPr>
        <p:spPr>
          <a:xfrm>
            <a:off x="9570476" y="1600200"/>
            <a:ext cx="2072579" cy="82296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build05 TextBox 31"/>
          <p:cNvSpPr txBox="1"/>
          <p:nvPr/>
        </p:nvSpPr>
        <p:spPr>
          <a:xfrm>
            <a:off x="9753356" y="1783080"/>
            <a:ext cx="170681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338CA"/>
                </a:solidFill>
                <a:latin typeface="Arial"/>
              </a:rPr>
              <a:t>Phase 5</a:t>
            </a:r>
          </a:p>
        </p:txBody>
      </p:sp>
      <p:sp>
        <p:nvSpPr>
          <p:cNvPr id="33" name="build05 TextBox 32"/>
          <p:cNvSpPr txBox="1"/>
          <p:nvPr/>
        </p:nvSpPr>
        <p:spPr>
          <a:xfrm>
            <a:off x="9753356" y="2103120"/>
            <a:ext cx="17068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0F172A"/>
                </a:solidFill>
                <a:latin typeface="Arial"/>
              </a:rPr>
              <a:t>Local models</a:t>
            </a:r>
          </a:p>
        </p:txBody>
      </p:sp>
      <p:sp>
        <p:nvSpPr>
          <p:cNvPr id="34" name="build05 TextBox 33"/>
          <p:cNvSpPr txBox="1"/>
          <p:nvPr/>
        </p:nvSpPr>
        <p:spPr>
          <a:xfrm>
            <a:off x="9753356" y="2514600"/>
            <a:ext cx="170681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B45309"/>
                </a:solidFill>
                <a:latin typeface="Arial"/>
              </a:rPr>
              <a:t>When needed</a:t>
            </a:r>
          </a:p>
        </p:txBody>
      </p:sp>
      <p:sp>
        <p:nvSpPr>
          <p:cNvPr id="35" name="build05 TextBox 34"/>
          <p:cNvSpPr txBox="1"/>
          <p:nvPr/>
        </p:nvSpPr>
        <p:spPr>
          <a:xfrm>
            <a:off x="9753356" y="2880360"/>
            <a:ext cx="1706819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75569"/>
                </a:solidFill>
                <a:latin typeface="Arial"/>
              </a:rPr>
              <a:t>GPU machine for cheap building and evals, if usage justifies it.</a:t>
            </a:r>
          </a:p>
        </p:txBody>
      </p:sp>
      <p:sp>
        <p:nvSpPr>
          <p:cNvPr id="36" name="build06 TextBox 35"/>
          <p:cNvSpPr txBox="1"/>
          <p:nvPr/>
        </p:nvSpPr>
        <p:spPr>
          <a:xfrm>
            <a:off x="548640" y="4754880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0F172A"/>
                </a:solidFill>
                <a:latin typeface="Arial"/>
              </a:rPr>
              <a:t>How we will know it works</a:t>
            </a:r>
          </a:p>
        </p:txBody>
      </p:sp>
      <p:sp>
        <p:nvSpPr>
          <p:cNvPr id="37" name="build06 Rounded Rectangle 36"/>
          <p:cNvSpPr/>
          <p:nvPr/>
        </p:nvSpPr>
        <p:spPr>
          <a:xfrm>
            <a:off x="548640" y="5212080"/>
            <a:ext cx="1734769" cy="548640"/>
          </a:xfrm>
          <a:prstGeom prst="roundRect">
            <a:avLst>
              <a:gd name="adj" fmla="val 30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build06 TextBox 37"/>
          <p:cNvSpPr txBox="1"/>
          <p:nvPr/>
        </p:nvSpPr>
        <p:spPr>
          <a:xfrm>
            <a:off x="621792" y="5212080"/>
            <a:ext cx="1588465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0F766E"/>
                </a:solidFill>
                <a:latin typeface="Arial"/>
              </a:rPr>
              <a:t>Ideas submitted</a:t>
            </a:r>
          </a:p>
        </p:txBody>
      </p:sp>
      <p:sp>
        <p:nvSpPr>
          <p:cNvPr id="39" name="build06 Rounded Rectangle 38"/>
          <p:cNvSpPr/>
          <p:nvPr/>
        </p:nvSpPr>
        <p:spPr>
          <a:xfrm>
            <a:off x="2420569" y="5212080"/>
            <a:ext cx="1734769" cy="548640"/>
          </a:xfrm>
          <a:prstGeom prst="roundRect">
            <a:avLst>
              <a:gd name="adj" fmla="val 30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build06 TextBox 39"/>
          <p:cNvSpPr txBox="1"/>
          <p:nvPr/>
        </p:nvSpPr>
        <p:spPr>
          <a:xfrm>
            <a:off x="2493721" y="5212080"/>
            <a:ext cx="1588465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0F766E"/>
                </a:solidFill>
                <a:latin typeface="Arial"/>
              </a:rPr>
              <a:t>% shipped</a:t>
            </a:r>
          </a:p>
        </p:txBody>
      </p:sp>
      <p:sp>
        <p:nvSpPr>
          <p:cNvPr id="41" name="build06 Rounded Rectangle 40"/>
          <p:cNvSpPr/>
          <p:nvPr/>
        </p:nvSpPr>
        <p:spPr>
          <a:xfrm>
            <a:off x="4292498" y="5212080"/>
            <a:ext cx="1734769" cy="548640"/>
          </a:xfrm>
          <a:prstGeom prst="roundRect">
            <a:avLst>
              <a:gd name="adj" fmla="val 30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build06 TextBox 41"/>
          <p:cNvSpPr txBox="1"/>
          <p:nvPr/>
        </p:nvSpPr>
        <p:spPr>
          <a:xfrm>
            <a:off x="4365650" y="5212080"/>
            <a:ext cx="1588465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0F766E"/>
                </a:solidFill>
                <a:latin typeface="Arial"/>
              </a:rPr>
              <a:t>Installs per tool</a:t>
            </a:r>
          </a:p>
        </p:txBody>
      </p:sp>
      <p:sp>
        <p:nvSpPr>
          <p:cNvPr id="43" name="build06 Rounded Rectangle 42"/>
          <p:cNvSpPr/>
          <p:nvPr/>
        </p:nvSpPr>
        <p:spPr>
          <a:xfrm>
            <a:off x="6164427" y="5212080"/>
            <a:ext cx="1734769" cy="548640"/>
          </a:xfrm>
          <a:prstGeom prst="roundRect">
            <a:avLst>
              <a:gd name="adj" fmla="val 30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build06 TextBox 43"/>
          <p:cNvSpPr txBox="1"/>
          <p:nvPr/>
        </p:nvSpPr>
        <p:spPr>
          <a:xfrm>
            <a:off x="6237579" y="5212080"/>
            <a:ext cx="1588465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0F766E"/>
                </a:solidFill>
                <a:latin typeface="Arial"/>
              </a:rPr>
              <a:t>Time to release</a:t>
            </a:r>
          </a:p>
        </p:txBody>
      </p:sp>
      <p:sp>
        <p:nvSpPr>
          <p:cNvPr id="45" name="build06 Rounded Rectangle 44"/>
          <p:cNvSpPr/>
          <p:nvPr/>
        </p:nvSpPr>
        <p:spPr>
          <a:xfrm>
            <a:off x="8036356" y="5212080"/>
            <a:ext cx="1734769" cy="548640"/>
          </a:xfrm>
          <a:prstGeom prst="roundRect">
            <a:avLst>
              <a:gd name="adj" fmla="val 30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build06 TextBox 45"/>
          <p:cNvSpPr txBox="1"/>
          <p:nvPr/>
        </p:nvSpPr>
        <p:spPr>
          <a:xfrm>
            <a:off x="8109508" y="5212080"/>
            <a:ext cx="1588465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0F766E"/>
                </a:solidFill>
                <a:latin typeface="Arial"/>
              </a:rPr>
              <a:t>Cost per tool</a:t>
            </a:r>
          </a:p>
        </p:txBody>
      </p:sp>
      <p:sp>
        <p:nvSpPr>
          <p:cNvPr id="47" name="build06 Rounded Rectangle 46"/>
          <p:cNvSpPr/>
          <p:nvPr/>
        </p:nvSpPr>
        <p:spPr>
          <a:xfrm>
            <a:off x="9908286" y="5212080"/>
            <a:ext cx="1734769" cy="548640"/>
          </a:xfrm>
          <a:prstGeom prst="roundRect">
            <a:avLst>
              <a:gd name="adj" fmla="val 30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build06 TextBox 47"/>
          <p:cNvSpPr txBox="1"/>
          <p:nvPr/>
        </p:nvSpPr>
        <p:spPr>
          <a:xfrm>
            <a:off x="9981438" y="5212080"/>
            <a:ext cx="1588465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0F766E"/>
                </a:solidFill>
                <a:latin typeface="Arial"/>
              </a:rPr>
              <a:t>“Was this useful?”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8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2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600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/>
      <p:bldP spid="9" grpId="0"/>
      <p:bldP spid="10" grpId="0"/>
      <p:bldP spid="11" grpId="0"/>
      <p:bldP spid="12" grpId="0" animBg="1"/>
      <p:bldP spid="13" grpId="0" animBg="1"/>
      <p:bldP spid="14" grpId="0"/>
      <p:bldP spid="15" grpId="0"/>
      <p:bldP spid="16" grpId="0"/>
      <p:bldP spid="17" grpId="0"/>
      <p:bldP spid="18" grpId="0" animBg="1"/>
      <p:bldP spid="19" grpId="0" animBg="1"/>
      <p:bldP spid="20" grpId="0"/>
      <p:bldP spid="21" grpId="0"/>
      <p:bldP spid="22" grpId="0"/>
      <p:bldP spid="23" grpId="0"/>
      <p:bldP spid="24" grpId="0" animBg="1"/>
      <p:bldP spid="25" grpId="0" animBg="1"/>
      <p:bldP spid="26" grpId="0"/>
      <p:bldP spid="27" grpId="0"/>
      <p:bldP spid="28" grpId="0"/>
      <p:bldP spid="29" grpId="0"/>
      <p:bldP spid="30" grpId="0" animBg="1"/>
      <p:bldP spid="31" grpId="0" animBg="1"/>
      <p:bldP spid="32" grpId="0"/>
      <p:bldP spid="33" grpId="0"/>
      <p:bldP spid="34" grpId="0"/>
      <p:bldP spid="35" grpId="0"/>
      <p:bldP spid="36" grpId="0"/>
      <p:bldP spid="37" grpId="0" animBg="1"/>
      <p:bldP spid="38" grpId="0"/>
      <p:bldP spid="39" grpId="0" animBg="1"/>
      <p:bldP spid="40" grpId="0"/>
      <p:bldP spid="41" grpId="0" animBg="1"/>
      <p:bldP spid="42" grpId="0"/>
      <p:bldP spid="43" grpId="0" animBg="1"/>
      <p:bldP spid="44" grpId="0"/>
      <p:bldP spid="45" grpId="0" animBg="1"/>
      <p:bldP spid="46" grpId="0"/>
      <p:bldP spid="47" grpId="0" animBg="1"/>
      <p:bldP spid="4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4338CA"/>
                </a:solidFill>
                <a:latin typeface="Arial"/>
              </a:rPr>
              <a:t>16 · 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0F172A"/>
                </a:solidFill>
                <a:latin typeface="Arial"/>
              </a:rPr>
              <a:t>What could go wrong, and how we handle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 i="0">
                <a:solidFill>
                  <a:srgbClr val="475569"/>
                </a:solidFill>
                <a:latin typeface="Arial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475569"/>
                </a:solidFill>
                <a:latin typeface="Arial"/>
              </a:rPr>
              <a:t>DevExAI · proposal draft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54480"/>
          <a:ext cx="1109167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426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Risk</a:t>
                      </a:r>
                    </a:p>
                  </a:txBody>
                  <a:tcPr marL="109728" marR="109728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Handling</a:t>
                      </a:r>
                    </a:p>
                  </a:txBody>
                  <a:tcPr marL="109728" marR="109728"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0F172A"/>
                          </a:solidFill>
                          <a:latin typeface="Arial"/>
                        </a:rPr>
                        <a:t>Harmful or buggy tool on many laptops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E293B"/>
                          </a:solidFill>
                          <a:latin typeface="Arial"/>
                        </a:rPr>
                        <a:t>Two safety checks, human approval, sandboxed builds (next), versions, one-command uninstall, pull a release.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0F172A"/>
                          </a:solidFill>
                          <a:latin typeface="Arial"/>
                        </a:rPr>
                        <a:t>Hidden instructions in a link</a:t>
                      </a:r>
                    </a:p>
                  </a:txBody>
                  <a:tcPr marL="109728" marR="10972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E293B"/>
                          </a:solidFill>
                          <a:latin typeface="Arial"/>
                        </a:rPr>
                        <a:t>Links read by a separate process as plain data; no secrets while reading.</a:t>
                      </a:r>
                    </a:p>
                  </a:txBody>
                  <a:tcPr marL="109728" marR="109728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0F172A"/>
                          </a:solidFill>
                          <a:latin typeface="Arial"/>
                        </a:rPr>
                        <a:t>Company code leaks to an outside AI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E293B"/>
                          </a:solidFill>
                          <a:latin typeface="Arial"/>
                        </a:rPr>
                        <a:t>Only approved providers see code; summaries instead of full source where possible.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0F172A"/>
                          </a:solidFill>
                          <a:latin typeface="Arial"/>
                        </a:rPr>
                        <a:t>Costs grow quietly</a:t>
                      </a:r>
                    </a:p>
                  </a:txBody>
                  <a:tcPr marL="109728" marR="10972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E293B"/>
                          </a:solidFill>
                          <a:latin typeface="Arial"/>
                        </a:rPr>
                        <a:t>Budgets per provider and account, usage shown to maintainers, cheap models do bulk work.</a:t>
                      </a:r>
                    </a:p>
                  </a:txBody>
                  <a:tcPr marL="109728" marR="109728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0F172A"/>
                          </a:solidFill>
                          <a:latin typeface="Arial"/>
                        </a:rPr>
                        <a:t>Account pool breaks provider terms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E293B"/>
                          </a:solidFill>
                          <a:latin typeface="Arial"/>
                        </a:rPr>
                        <a:t>Business, enterprise plans or API keys recommended; each company checks its plans.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0F172A"/>
                          </a:solidFill>
                          <a:latin typeface="Arial"/>
                        </a:rPr>
                        <a:t>Too many low-value ideas</a:t>
                      </a:r>
                    </a:p>
                  </a:txBody>
                  <a:tcPr marL="109728" marR="10972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E293B"/>
                          </a:solidFill>
                          <a:latin typeface="Arial"/>
                        </a:rPr>
                        <a:t>Duplicate check, “not now” label, simple priority queue.</a:t>
                      </a:r>
                    </a:p>
                  </a:txBody>
                  <a:tcPr marL="109728" marR="109728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0F172A"/>
                          </a:solidFill>
                          <a:latin typeface="Arial"/>
                        </a:rPr>
                        <a:t>Maintainer bottleneck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E293B"/>
                          </a:solidFill>
                          <a:latin typeface="Arial"/>
                        </a:rPr>
                        <a:t>Several maintainers, topic routing, automatic reassignment after a timeout.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4338CA"/>
                </a:solidFill>
                <a:latin typeface="Arial"/>
              </a:rPr>
              <a:t>17 ·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0F172A"/>
                </a:solidFill>
                <a:latin typeface="Arial"/>
              </a:rPr>
              <a:t>What we have decided so far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 i="0">
                <a:solidFill>
                  <a:srgbClr val="475569"/>
                </a:solidFill>
                <a:latin typeface="Arial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475569"/>
                </a:solidFill>
                <a:latin typeface="Arial"/>
              </a:rPr>
              <a:t>DevExAI · proposal draft</a:t>
            </a:r>
          </a:p>
        </p:txBody>
      </p:sp>
      <p:sp>
        <p:nvSpPr>
          <p:cNvPr id="6" name="build01 Rounded Rectangle 5"/>
          <p:cNvSpPr/>
          <p:nvPr/>
        </p:nvSpPr>
        <p:spPr>
          <a:xfrm>
            <a:off x="548640" y="1600200"/>
            <a:ext cx="5364327" cy="20574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build01 Rectangle 6"/>
          <p:cNvSpPr/>
          <p:nvPr/>
        </p:nvSpPr>
        <p:spPr>
          <a:xfrm>
            <a:off x="548640" y="1764792"/>
            <a:ext cx="64008" cy="1728216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build01 TextBox 7"/>
          <p:cNvSpPr txBox="1"/>
          <p:nvPr/>
        </p:nvSpPr>
        <p:spPr>
          <a:xfrm>
            <a:off x="822959" y="1783080"/>
            <a:ext cx="49071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4338CA"/>
                </a:solidFill>
                <a:latin typeface="Arial"/>
              </a:rPr>
              <a:t>D1</a:t>
            </a:r>
          </a:p>
        </p:txBody>
      </p:sp>
      <p:sp>
        <p:nvSpPr>
          <p:cNvPr id="9" name="build01 TextBox 8"/>
          <p:cNvSpPr txBox="1"/>
          <p:nvPr/>
        </p:nvSpPr>
        <p:spPr>
          <a:xfrm>
            <a:off x="822959" y="2194560"/>
            <a:ext cx="4907127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 i="0">
                <a:solidFill>
                  <a:srgbClr val="0F172A"/>
                </a:solidFill>
                <a:latin typeface="Arial"/>
              </a:rPr>
              <a:t>DeepSeek</a:t>
            </a:r>
          </a:p>
        </p:txBody>
      </p:sp>
      <p:sp>
        <p:nvSpPr>
          <p:cNvPr id="10" name="build01 TextBox 9"/>
          <p:cNvSpPr txBox="1"/>
          <p:nvPr/>
        </p:nvSpPr>
        <p:spPr>
          <a:xfrm>
            <a:off x="822959" y="2651760"/>
            <a:ext cx="4907127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475569"/>
                </a:solidFill>
                <a:latin typeface="Arial"/>
              </a:rPr>
              <a:t>Off for now. Self-hosted models may become a setup option.</a:t>
            </a:r>
          </a:p>
        </p:txBody>
      </p:sp>
      <p:sp>
        <p:nvSpPr>
          <p:cNvPr id="11" name="build02 Rounded Rectangle 10"/>
          <p:cNvSpPr/>
          <p:nvPr/>
        </p:nvSpPr>
        <p:spPr>
          <a:xfrm>
            <a:off x="6278727" y="1600200"/>
            <a:ext cx="5364327" cy="20574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build02 Rectangle 11"/>
          <p:cNvSpPr/>
          <p:nvPr/>
        </p:nvSpPr>
        <p:spPr>
          <a:xfrm>
            <a:off x="6278727" y="1764792"/>
            <a:ext cx="64008" cy="1728216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build02 TextBox 12"/>
          <p:cNvSpPr txBox="1"/>
          <p:nvPr/>
        </p:nvSpPr>
        <p:spPr>
          <a:xfrm>
            <a:off x="6553047" y="1783080"/>
            <a:ext cx="49071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4338CA"/>
                </a:solidFill>
                <a:latin typeface="Arial"/>
              </a:rPr>
              <a:t>D2</a:t>
            </a:r>
          </a:p>
        </p:txBody>
      </p:sp>
      <p:sp>
        <p:nvSpPr>
          <p:cNvPr id="14" name="build02 TextBox 13"/>
          <p:cNvSpPr txBox="1"/>
          <p:nvPr/>
        </p:nvSpPr>
        <p:spPr>
          <a:xfrm>
            <a:off x="6553047" y="2194560"/>
            <a:ext cx="4907127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 i="0">
                <a:solidFill>
                  <a:srgbClr val="0F172A"/>
                </a:solidFill>
                <a:latin typeface="Arial"/>
              </a:rPr>
              <a:t>Blog</a:t>
            </a:r>
          </a:p>
        </p:txBody>
      </p:sp>
      <p:sp>
        <p:nvSpPr>
          <p:cNvPr id="15" name="build02 TextBox 14"/>
          <p:cNvSpPr txBox="1"/>
          <p:nvPr/>
        </p:nvSpPr>
        <p:spPr>
          <a:xfrm>
            <a:off x="6553047" y="2651760"/>
            <a:ext cx="4907127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475569"/>
                </a:solidFill>
                <a:latin typeface="Arial"/>
              </a:rPr>
              <a:t>Posts are Markdown files, served by the dashboard's own blog page.</a:t>
            </a:r>
          </a:p>
        </p:txBody>
      </p:sp>
      <p:sp>
        <p:nvSpPr>
          <p:cNvPr id="16" name="build03 Rounded Rectangle 15"/>
          <p:cNvSpPr/>
          <p:nvPr/>
        </p:nvSpPr>
        <p:spPr>
          <a:xfrm>
            <a:off x="548640" y="3840480"/>
            <a:ext cx="5364327" cy="20574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build03 Rectangle 16"/>
          <p:cNvSpPr/>
          <p:nvPr/>
        </p:nvSpPr>
        <p:spPr>
          <a:xfrm>
            <a:off x="548640" y="4005072"/>
            <a:ext cx="64008" cy="1728216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build03 TextBox 17"/>
          <p:cNvSpPr txBox="1"/>
          <p:nvPr/>
        </p:nvSpPr>
        <p:spPr>
          <a:xfrm>
            <a:off x="822959" y="4023360"/>
            <a:ext cx="49071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4338CA"/>
                </a:solidFill>
                <a:latin typeface="Arial"/>
              </a:rPr>
              <a:t>D3</a:t>
            </a:r>
          </a:p>
        </p:txBody>
      </p:sp>
      <p:sp>
        <p:nvSpPr>
          <p:cNvPr id="19" name="build03 TextBox 18"/>
          <p:cNvSpPr txBox="1"/>
          <p:nvPr/>
        </p:nvSpPr>
        <p:spPr>
          <a:xfrm>
            <a:off x="822959" y="4434840"/>
            <a:ext cx="4907127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 i="0">
                <a:solidFill>
                  <a:srgbClr val="0F172A"/>
                </a:solidFill>
                <a:latin typeface="Arial"/>
              </a:rPr>
              <a:t>Maintainers</a:t>
            </a:r>
          </a:p>
        </p:txBody>
      </p:sp>
      <p:sp>
        <p:nvSpPr>
          <p:cNvPr id="20" name="build03 TextBox 19"/>
          <p:cNvSpPr txBox="1"/>
          <p:nvPr/>
        </p:nvSpPr>
        <p:spPr>
          <a:xfrm>
            <a:off x="822959" y="4892040"/>
            <a:ext cx="4907127" cy="9143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475569"/>
                </a:solidFill>
                <a:latin typeface="Arial"/>
              </a:rPr>
              <a:t>Raghav is the pilot's admin and first maintainer. Maintainers answer within 24 hours.</a:t>
            </a:r>
          </a:p>
        </p:txBody>
      </p:sp>
      <p:sp>
        <p:nvSpPr>
          <p:cNvPr id="21" name="build04 Rounded Rectangle 20"/>
          <p:cNvSpPr/>
          <p:nvPr/>
        </p:nvSpPr>
        <p:spPr>
          <a:xfrm>
            <a:off x="6278727" y="3840480"/>
            <a:ext cx="5364327" cy="20574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build04 Rectangle 21"/>
          <p:cNvSpPr/>
          <p:nvPr/>
        </p:nvSpPr>
        <p:spPr>
          <a:xfrm>
            <a:off x="6278727" y="4005072"/>
            <a:ext cx="64008" cy="1728216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build04 TextBox 22"/>
          <p:cNvSpPr txBox="1"/>
          <p:nvPr/>
        </p:nvSpPr>
        <p:spPr>
          <a:xfrm>
            <a:off x="6553047" y="4023360"/>
            <a:ext cx="49071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4338CA"/>
                </a:solidFill>
                <a:latin typeface="Arial"/>
              </a:rPr>
              <a:t>D4</a:t>
            </a:r>
          </a:p>
        </p:txBody>
      </p:sp>
      <p:sp>
        <p:nvSpPr>
          <p:cNvPr id="24" name="build04 TextBox 23"/>
          <p:cNvSpPr txBox="1"/>
          <p:nvPr/>
        </p:nvSpPr>
        <p:spPr>
          <a:xfrm>
            <a:off x="6553047" y="4434840"/>
            <a:ext cx="4907127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 i="0">
                <a:solidFill>
                  <a:srgbClr val="0F172A"/>
                </a:solidFill>
                <a:latin typeface="Arial"/>
              </a:rPr>
              <a:t>Offering the product</a:t>
            </a:r>
          </a:p>
        </p:txBody>
      </p:sp>
      <p:sp>
        <p:nvSpPr>
          <p:cNvPr id="25" name="build04 TextBox 24"/>
          <p:cNvSpPr txBox="1"/>
          <p:nvPr/>
        </p:nvSpPr>
        <p:spPr>
          <a:xfrm>
            <a:off x="6553047" y="4892040"/>
            <a:ext cx="4907127" cy="9143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475569"/>
                </a:solidFill>
                <a:latin typeface="Arial"/>
              </a:rPr>
              <a:t>Each company hosts it on its own network, from a Windows or Linux package that updates itself.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8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2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/>
      <p:bldP spid="9" grpId="0"/>
      <p:bldP spid="10" grpId="0"/>
      <p:bldP spid="11" grpId="0" animBg="1"/>
      <p:bldP spid="12" grpId="0" animBg="1"/>
      <p:bldP spid="13" grpId="0"/>
      <p:bldP spid="14" grpId="0"/>
      <p:bldP spid="15" grpId="0"/>
      <p:bldP spid="16" grpId="0" animBg="1"/>
      <p:bldP spid="17" grpId="0" animBg="1"/>
      <p:bldP spid="18" grpId="0"/>
      <p:bldP spid="19" grpId="0"/>
      <p:bldP spid="20" grpId="0"/>
      <p:bldP spid="21" grpId="0" animBg="1"/>
      <p:bldP spid="22" grpId="0" animBg="1"/>
      <p:bldP spid="23" grpId="0"/>
      <p:bldP spid="24" grpId="0"/>
      <p:bldP spid="2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am.jpg"/>
          <p:cNvPicPr>
            <a:picLocks noChangeAspect="1"/>
          </p:cNvPicPr>
          <p:nvPr/>
        </p:nvPicPr>
        <p:blipFill>
          <a:blip r:embed="rId3"/>
          <a:srcRect t="6971" b="697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build01 TextBox 3"/>
          <p:cNvSpPr txBox="1"/>
          <p:nvPr/>
        </p:nvSpPr>
        <p:spPr>
          <a:xfrm>
            <a:off x="548640" y="146304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93C5FD"/>
                </a:solidFill>
                <a:latin typeface="Arial"/>
              </a:rPr>
              <a:t>NEXT STEPS</a:t>
            </a:r>
          </a:p>
        </p:txBody>
      </p:sp>
      <p:sp>
        <p:nvSpPr>
          <p:cNvPr id="5" name="build01 TextBox 4"/>
          <p:cNvSpPr txBox="1"/>
          <p:nvPr/>
        </p:nvSpPr>
        <p:spPr>
          <a:xfrm>
            <a:off x="548640" y="192024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 i="0">
                <a:solidFill>
                  <a:srgbClr val="FFFFFF"/>
                </a:solidFill>
                <a:latin typeface="Arial"/>
              </a:rPr>
              <a:t>Turn good ideas into tools everyone uses</a:t>
            </a:r>
          </a:p>
        </p:txBody>
      </p:sp>
      <p:sp>
        <p:nvSpPr>
          <p:cNvPr id="6" name="build02 Rounded Rectangle 5"/>
          <p:cNvSpPr/>
          <p:nvPr/>
        </p:nvSpPr>
        <p:spPr>
          <a:xfrm>
            <a:off x="548640" y="3291840"/>
            <a:ext cx="3515258" cy="1371600"/>
          </a:xfrm>
          <a:prstGeom prst="roundRect">
            <a:avLst>
              <a:gd name="adj" fmla="val 6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build02 TextBox 6"/>
          <p:cNvSpPr txBox="1"/>
          <p:nvPr/>
        </p:nvSpPr>
        <p:spPr>
          <a:xfrm>
            <a:off x="822959" y="3429000"/>
            <a:ext cx="296661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93C5FD"/>
                </a:solidFill>
                <a:latin typeface="Arial"/>
              </a:rPr>
              <a:t>1</a:t>
            </a:r>
          </a:p>
        </p:txBody>
      </p:sp>
      <p:sp>
        <p:nvSpPr>
          <p:cNvPr id="8" name="build02 TextBox 7"/>
          <p:cNvSpPr txBox="1"/>
          <p:nvPr/>
        </p:nvSpPr>
        <p:spPr>
          <a:xfrm>
            <a:off x="822959" y="3886200"/>
            <a:ext cx="296661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Review this proposal</a:t>
            </a:r>
          </a:p>
        </p:txBody>
      </p:sp>
      <p:sp>
        <p:nvSpPr>
          <p:cNvPr id="9" name="build03 Rounded Rectangle 8"/>
          <p:cNvSpPr/>
          <p:nvPr/>
        </p:nvSpPr>
        <p:spPr>
          <a:xfrm>
            <a:off x="4338218" y="3291840"/>
            <a:ext cx="3515258" cy="1371600"/>
          </a:xfrm>
          <a:prstGeom prst="roundRect">
            <a:avLst>
              <a:gd name="adj" fmla="val 6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build03 TextBox 9"/>
          <p:cNvSpPr txBox="1"/>
          <p:nvPr/>
        </p:nvSpPr>
        <p:spPr>
          <a:xfrm>
            <a:off x="4612538" y="3429000"/>
            <a:ext cx="296661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93C5FD"/>
                </a:solidFill>
                <a:latin typeface="Arial"/>
              </a:rPr>
              <a:t>2</a:t>
            </a:r>
          </a:p>
        </p:txBody>
      </p:sp>
      <p:sp>
        <p:nvSpPr>
          <p:cNvPr id="11" name="build03 TextBox 10"/>
          <p:cNvSpPr txBox="1"/>
          <p:nvPr/>
        </p:nvSpPr>
        <p:spPr>
          <a:xfrm>
            <a:off x="4612538" y="3886200"/>
            <a:ext cx="296661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Pick the pilot team</a:t>
            </a:r>
          </a:p>
        </p:txBody>
      </p:sp>
      <p:sp>
        <p:nvSpPr>
          <p:cNvPr id="12" name="build04 Rounded Rectangle 11"/>
          <p:cNvSpPr/>
          <p:nvPr/>
        </p:nvSpPr>
        <p:spPr>
          <a:xfrm>
            <a:off x="8127796" y="3291840"/>
            <a:ext cx="3515258" cy="1371600"/>
          </a:xfrm>
          <a:prstGeom prst="roundRect">
            <a:avLst>
              <a:gd name="adj" fmla="val 6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build04 TextBox 12"/>
          <p:cNvSpPr txBox="1"/>
          <p:nvPr/>
        </p:nvSpPr>
        <p:spPr>
          <a:xfrm>
            <a:off x="8402116" y="3429000"/>
            <a:ext cx="296661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93C5FD"/>
                </a:solidFill>
                <a:latin typeface="Arial"/>
              </a:rPr>
              <a:t>3</a:t>
            </a:r>
          </a:p>
        </p:txBody>
      </p:sp>
      <p:sp>
        <p:nvSpPr>
          <p:cNvPr id="14" name="build04 TextBox 13"/>
          <p:cNvSpPr txBox="1"/>
          <p:nvPr/>
        </p:nvSpPr>
        <p:spPr>
          <a:xfrm>
            <a:off x="8402116" y="3886200"/>
            <a:ext cx="296661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Run the pilot with that team</a:t>
            </a:r>
          </a:p>
        </p:txBody>
      </p:sp>
      <p:sp>
        <p:nvSpPr>
          <p:cNvPr id="15" name="build05 TextBox 14"/>
          <p:cNvSpPr txBox="1"/>
          <p:nvPr/>
        </p:nvSpPr>
        <p:spPr>
          <a:xfrm>
            <a:off x="548640" y="51206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F1F5F9"/>
                </a:solidFill>
                <a:latin typeface="Arial"/>
              </a:rPr>
              <a:t>Full details: README.md in the DevExAI project.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4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8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2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6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7" grpId="0"/>
      <p:bldP spid="8" grpId="0"/>
      <p:bldP spid="9" grpId="0" animBg="1"/>
      <p:bldP spid="10" grpId="0"/>
      <p:bldP spid="11" grpId="0"/>
      <p:bldP spid="12" grpId="0" animBg="1"/>
      <p:bldP spid="13" grpId="0"/>
      <p:bldP spid="14" grpId="0"/>
      <p:bldP spid="1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2365</Words>
  <Application>Microsoft Office PowerPoint</Application>
  <PresentationFormat>Widescreen</PresentationFormat>
  <Paragraphs>353</Paragraphs>
  <Slides>19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DevExAI</dc:title>
  <dc:subject/>
  <dc:creator/>
  <cp:keywords/>
  <dc:description/>
  <cp:lastModifiedBy/>
  <cp:revision>2</cp:revision>
  <dcterms:created xsi:type="dcterms:W3CDTF">2013-01-27T09:14:16Z</dcterms:created>
  <dcterms:modified xsi:type="dcterms:W3CDTF">2026-10-21T21:48:51Z</dcterms:modified>
  <cp:category/>
</cp:coreProperties>
</file>