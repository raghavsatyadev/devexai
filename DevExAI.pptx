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7724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Annie Spratt on Unsplash (Unsplash License), unsplash.com/photos/QckxruozjRg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Arif Riyanto on Unsplash (Unsplash License), unsplash.com/photos/G1N9kDHqBrQ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X (@disruptxn) on Unsplash (Unsplash License), unsplash.com/photos/kwzWjTnDPLk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freestocks on Unsplash (Unsplash License), unsplash.com/photos/mw6Onwg4frY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Cherrydeck on Unsplash (Unsplash License), unsplash.com/photos/UpsEF48wAgk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itle.jpg"/>
          <p:cNvPicPr>
            <a:picLocks noChangeAspect="1"/>
          </p:cNvPicPr>
          <p:nvPr/>
        </p:nvPicPr>
        <p:blipFill>
          <a:blip r:embed="rId3"/>
          <a:srcRect t="7844" b="784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build01 TextBox 3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3C5FD"/>
                </a:solidFill>
                <a:latin typeface="Arial"/>
              </a:rPr>
              <a:t>PROPOSAL · DRAFT FOR REVIEW</a:t>
            </a:r>
          </a:p>
        </p:txBody>
      </p:sp>
      <p:sp>
        <p:nvSpPr>
          <p:cNvPr id="5" name="build01 TextBox 4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DevExAI — the company AI toolsmith</a:t>
            </a:r>
          </a:p>
        </p:txBody>
      </p:sp>
      <p:sp>
        <p:nvSpPr>
          <p:cNvPr id="6" name="build02 TextBox 5"/>
          <p:cNvSpPr txBox="1"/>
          <p:nvPr/>
        </p:nvSpPr>
        <p:spPr>
          <a:xfrm>
            <a:off x="548640" y="2926080"/>
            <a:ext cx="9601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1F5F9"/>
                </a:solidFill>
                <a:latin typeface="Arial"/>
              </a:rPr>
              <a:t>Anyone drops an idea into team chat. AI checks it is safe, researches it, builds a ready-to-install tool for our AI coding assistants, and publishes a short post. The person with the idea gets the credit.</a:t>
            </a:r>
          </a:p>
        </p:txBody>
      </p:sp>
      <p:sp>
        <p:nvSpPr>
          <p:cNvPr id="7" name="build03 Rounded Rectangle 6"/>
          <p:cNvSpPr/>
          <p:nvPr/>
        </p:nvSpPr>
        <p:spPr>
          <a:xfrm>
            <a:off x="548640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3 TextBox 7"/>
          <p:cNvSpPr txBox="1"/>
          <p:nvPr/>
        </p:nvSpPr>
        <p:spPr>
          <a:xfrm>
            <a:off x="621792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Claude · Gemini · ChatGPT</a:t>
            </a:r>
          </a:p>
        </p:txBody>
      </p:sp>
      <p:sp>
        <p:nvSpPr>
          <p:cNvPr id="9" name="build03 Rounded Rectangle 8"/>
          <p:cNvSpPr/>
          <p:nvPr/>
        </p:nvSpPr>
        <p:spPr>
          <a:xfrm>
            <a:off x="3977639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3 TextBox 9"/>
          <p:cNvSpPr txBox="1"/>
          <p:nvPr/>
        </p:nvSpPr>
        <p:spPr>
          <a:xfrm>
            <a:off x="4050791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Any chat platform</a:t>
            </a:r>
          </a:p>
        </p:txBody>
      </p:sp>
      <p:sp>
        <p:nvSpPr>
          <p:cNvPr id="11" name="build03 Rounded Rectangle 10"/>
          <p:cNvSpPr/>
          <p:nvPr/>
        </p:nvSpPr>
        <p:spPr>
          <a:xfrm>
            <a:off x="7406640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3 TextBox 11"/>
          <p:cNvSpPr txBox="1"/>
          <p:nvPr/>
        </p:nvSpPr>
        <p:spPr>
          <a:xfrm>
            <a:off x="7479792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Built as a product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01 ·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Good AI tricks get lost in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pic>
        <p:nvPicPr>
          <p:cNvPr id="6" name="Picture 5" descr="problem.jpg"/>
          <p:cNvPicPr>
            <a:picLocks noChangeAspect="1"/>
          </p:cNvPicPr>
          <p:nvPr/>
        </p:nvPicPr>
        <p:blipFill>
          <a:blip r:embed="rId3"/>
          <a:srcRect t="1061" b="1061"/>
          <a:stretch>
            <a:fillRect/>
          </a:stretch>
        </p:blipFill>
        <p:spPr>
          <a:xfrm>
            <a:off x="8625535" y="1600200"/>
            <a:ext cx="3017520" cy="4434840"/>
          </a:xfrm>
          <a:prstGeom prst="rect">
            <a:avLst/>
          </a:prstGeom>
        </p:spPr>
      </p:pic>
      <p:sp>
        <p:nvSpPr>
          <p:cNvPr id="7" name="build01 Rounded Rectangle 6"/>
          <p:cNvSpPr/>
          <p:nvPr/>
        </p:nvSpPr>
        <p:spPr>
          <a:xfrm>
            <a:off x="548640" y="1600200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Rectangle 7"/>
          <p:cNvSpPr/>
          <p:nvPr/>
        </p:nvSpPr>
        <p:spPr>
          <a:xfrm>
            <a:off x="548640" y="1764792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160020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1371600" y="1600200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Found every week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A blog post, a GitHub repo, a new prompt, a new MCP server that makes AI coding or code review better.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548640" y="2788920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548640" y="2953512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822959" y="278892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2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1371600" y="2788920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Then lost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The knowledge stays in one person's head or disappears in a chat thread.</a:t>
            </a:r>
          </a:p>
        </p:txBody>
      </p:sp>
      <p:sp>
        <p:nvSpPr>
          <p:cNvPr id="15" name="build03 Rounded Rectangle 14"/>
          <p:cNvSpPr/>
          <p:nvPr/>
        </p:nvSpPr>
        <p:spPr>
          <a:xfrm>
            <a:off x="548640" y="3977639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Rectangle 15"/>
          <p:cNvSpPr/>
          <p:nvPr/>
        </p:nvSpPr>
        <p:spPr>
          <a:xfrm>
            <a:off x="548640" y="4142231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TextBox 16"/>
          <p:cNvSpPr txBox="1"/>
          <p:nvPr/>
        </p:nvSpPr>
        <p:spPr>
          <a:xfrm>
            <a:off x="822959" y="3977639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3</a:t>
            </a:r>
          </a:p>
        </p:txBody>
      </p:sp>
      <p:sp>
        <p:nvSpPr>
          <p:cNvPr id="18" name="build03 TextBox 17"/>
          <p:cNvSpPr txBox="1"/>
          <p:nvPr/>
        </p:nvSpPr>
        <p:spPr>
          <a:xfrm>
            <a:off x="1371600" y="3977639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Never shared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Nobody has time to turn it into something the whole company can install in one step.</a:t>
            </a:r>
          </a:p>
        </p:txBody>
      </p:sp>
      <p:sp>
        <p:nvSpPr>
          <p:cNvPr id="19" name="build04 Rounded Rectangle 18"/>
          <p:cNvSpPr/>
          <p:nvPr/>
        </p:nvSpPr>
        <p:spPr>
          <a:xfrm>
            <a:off x="548640" y="5257800"/>
            <a:ext cx="7802575" cy="77724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868680" y="5257800"/>
            <a:ext cx="71624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DevExAI's answer: </a:t>
            </a:r>
            <a:r>
              <a:rPr sz="1800" b="0" i="0">
                <a:solidFill>
                  <a:srgbClr val="0F172A"/>
                </a:solidFill>
                <a:latin typeface="Arial"/>
              </a:rPr>
              <a:t>a chat bot that turns a shared idea into a safe, reviewed tool everyone installs with one command.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  <p:bldP spid="16" grpId="0" animBg="1"/>
      <p:bldP spid="17" grpId="0"/>
      <p:bldP spid="18" grpId="0"/>
      <p:bldP spid="19" grpId="0" animBg="1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02 · 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From a chat message to a ready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1323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1323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Idea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71323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colleague posts text or links in chat.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210312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ounded Rectangle 11"/>
          <p:cNvSpPr/>
          <p:nvPr/>
        </p:nvSpPr>
        <p:spPr>
          <a:xfrm>
            <a:off x="246888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2468880" y="1645920"/>
            <a:ext cx="1481328" cy="822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263347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B91C1C"/>
                </a:solidFill>
                <a:latin typeface="Arial"/>
              </a:rPr>
              <a:t>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263347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Safety gate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263347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Strict check before any work starts.</a:t>
            </a:r>
          </a:p>
        </p:txBody>
      </p:sp>
      <p:sp>
        <p:nvSpPr>
          <p:cNvPr id="17" name="build02 Right Arrow 16"/>
          <p:cNvSpPr/>
          <p:nvPr/>
        </p:nvSpPr>
        <p:spPr>
          <a:xfrm>
            <a:off x="402336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Rounded Rectangle 17"/>
          <p:cNvSpPr/>
          <p:nvPr/>
        </p:nvSpPr>
        <p:spPr>
          <a:xfrm>
            <a:off x="438912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438912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455371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455371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Plan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455371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Opus researches with our project context.</a:t>
            </a:r>
          </a:p>
        </p:txBody>
      </p:sp>
      <p:sp>
        <p:nvSpPr>
          <p:cNvPr id="23" name="build03 Right Arrow 22"/>
          <p:cNvSpPr/>
          <p:nvPr/>
        </p:nvSpPr>
        <p:spPr>
          <a:xfrm>
            <a:off x="594360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4 Rounded Rectangle 23"/>
          <p:cNvSpPr/>
          <p:nvPr/>
        </p:nvSpPr>
        <p:spPr>
          <a:xfrm>
            <a:off x="630936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Rectangle 24"/>
          <p:cNvSpPr/>
          <p:nvPr/>
        </p:nvSpPr>
        <p:spPr>
          <a:xfrm>
            <a:off x="630936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647395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4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647395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Build</a:t>
            </a:r>
          </a:p>
        </p:txBody>
      </p:sp>
      <p:sp>
        <p:nvSpPr>
          <p:cNvPr id="28" name="build04 TextBox 27"/>
          <p:cNvSpPr txBox="1"/>
          <p:nvPr/>
        </p:nvSpPr>
        <p:spPr>
          <a:xfrm>
            <a:off x="647395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builder AI writes the code, tests and README.</a:t>
            </a:r>
          </a:p>
        </p:txBody>
      </p:sp>
      <p:sp>
        <p:nvSpPr>
          <p:cNvPr id="29" name="build04 Right Arrow 28"/>
          <p:cNvSpPr/>
          <p:nvPr/>
        </p:nvSpPr>
        <p:spPr>
          <a:xfrm>
            <a:off x="786384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5 Rounded Rectangle 29"/>
          <p:cNvSpPr/>
          <p:nvPr/>
        </p:nvSpPr>
        <p:spPr>
          <a:xfrm>
            <a:off x="822960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5 Rectangle 30"/>
          <p:cNvSpPr/>
          <p:nvPr/>
        </p:nvSpPr>
        <p:spPr>
          <a:xfrm>
            <a:off x="822960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5 TextBox 31"/>
          <p:cNvSpPr txBox="1"/>
          <p:nvPr/>
        </p:nvSpPr>
        <p:spPr>
          <a:xfrm>
            <a:off x="839419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5</a:t>
            </a:r>
          </a:p>
        </p:txBody>
      </p:sp>
      <p:sp>
        <p:nvSpPr>
          <p:cNvPr id="33" name="build05 TextBox 32"/>
          <p:cNvSpPr txBox="1"/>
          <p:nvPr/>
        </p:nvSpPr>
        <p:spPr>
          <a:xfrm>
            <a:off x="839419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34" name="build05 TextBox 33"/>
          <p:cNvSpPr txBox="1"/>
          <p:nvPr/>
        </p:nvSpPr>
        <p:spPr>
          <a:xfrm>
            <a:off x="839419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Opus reviews every line; a human approves.</a:t>
            </a:r>
          </a:p>
        </p:txBody>
      </p:sp>
      <p:sp>
        <p:nvSpPr>
          <p:cNvPr id="35" name="build05 Right Arrow 34"/>
          <p:cNvSpPr/>
          <p:nvPr/>
        </p:nvSpPr>
        <p:spPr>
          <a:xfrm>
            <a:off x="978408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uild06 Rounded Rectangle 35"/>
          <p:cNvSpPr/>
          <p:nvPr/>
        </p:nvSpPr>
        <p:spPr>
          <a:xfrm>
            <a:off x="1014984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uild06 Rectangle 36"/>
          <p:cNvSpPr/>
          <p:nvPr/>
        </p:nvSpPr>
        <p:spPr>
          <a:xfrm>
            <a:off x="10149840" y="1645920"/>
            <a:ext cx="1481328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6 TextBox 37"/>
          <p:cNvSpPr txBox="1"/>
          <p:nvPr/>
        </p:nvSpPr>
        <p:spPr>
          <a:xfrm>
            <a:off x="1031443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766E"/>
                </a:solidFill>
                <a:latin typeface="Arial"/>
              </a:rPr>
              <a:t>6</a:t>
            </a:r>
          </a:p>
        </p:txBody>
      </p:sp>
      <p:sp>
        <p:nvSpPr>
          <p:cNvPr id="39" name="build06 TextBox 38"/>
          <p:cNvSpPr txBox="1"/>
          <p:nvPr/>
        </p:nvSpPr>
        <p:spPr>
          <a:xfrm>
            <a:off x="1031443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Publish</a:t>
            </a:r>
          </a:p>
        </p:txBody>
      </p:sp>
      <p:sp>
        <p:nvSpPr>
          <p:cNvPr id="40" name="build06 TextBox 39"/>
          <p:cNvSpPr txBox="1"/>
          <p:nvPr/>
        </p:nvSpPr>
        <p:spPr>
          <a:xfrm>
            <a:off x="1031443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Short post with install steps; idea credited.</a:t>
            </a:r>
          </a:p>
        </p:txBody>
      </p:sp>
      <p:sp>
        <p:nvSpPr>
          <p:cNvPr id="41" name="build07 Rounded Rectangle 40"/>
          <p:cNvSpPr/>
          <p:nvPr/>
        </p:nvSpPr>
        <p:spPr>
          <a:xfrm>
            <a:off x="548640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7 TextBox 41"/>
          <p:cNvSpPr txBox="1"/>
          <p:nvPr/>
        </p:nvSpPr>
        <p:spPr>
          <a:xfrm>
            <a:off x="621792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Opus plans and reviews</a:t>
            </a:r>
          </a:p>
        </p:txBody>
      </p:sp>
      <p:sp>
        <p:nvSpPr>
          <p:cNvPr id="43" name="build07 Rounded Rectangle 42"/>
          <p:cNvSpPr/>
          <p:nvPr/>
        </p:nvSpPr>
        <p:spPr>
          <a:xfrm>
            <a:off x="4322978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build07 TextBox 43"/>
          <p:cNvSpPr txBox="1"/>
          <p:nvPr/>
        </p:nvSpPr>
        <p:spPr>
          <a:xfrm>
            <a:off x="4396130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No release without a human yes</a:t>
            </a:r>
          </a:p>
        </p:txBody>
      </p:sp>
      <p:sp>
        <p:nvSpPr>
          <p:cNvPr id="45" name="build07 Rounded Rectangle 44"/>
          <p:cNvSpPr/>
          <p:nvPr/>
        </p:nvSpPr>
        <p:spPr>
          <a:xfrm>
            <a:off x="8097316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build07 TextBox 45"/>
          <p:cNvSpPr txBox="1"/>
          <p:nvPr/>
        </p:nvSpPr>
        <p:spPr>
          <a:xfrm>
            <a:off x="8170468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The poster is named in the post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240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/>
      <p:bldP spid="27" grpId="0"/>
      <p:bldP spid="28" grpId="0"/>
      <p:bldP spid="29" grpId="0" animBg="1"/>
      <p:bldP spid="30" grpId="0" animBg="1"/>
      <p:bldP spid="31" grpId="0" animBg="1"/>
      <p:bldP spid="32" grpId="0"/>
      <p:bldP spid="33" grpId="0"/>
      <p:bldP spid="34" grpId="0"/>
      <p:bldP spid="35" grpId="0" animBg="1"/>
      <p:bldP spid="36" grpId="0" animBg="1"/>
      <p:bldP spid="37" grpId="0" animBg="1"/>
      <p:bldP spid="38" grpId="0"/>
      <p:bldP spid="39" grpId="0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03 · WHO IS INVOLVED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Four roles, one thread per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Poster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colleague. Sends an idea — text, links, or both — to the bot.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3390823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3390823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3665143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Maintainers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3665143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small group. Approve plans, paid resources and releases, decide unsure cases, own the project summaries. Admins add them in the dashboard.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6233007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6233007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6507327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The bot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6507327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Safety check, research, planning, building, testing, publishing and every update.</a:t>
            </a:r>
          </a:p>
        </p:txBody>
      </p:sp>
      <p:sp>
        <p:nvSpPr>
          <p:cNvPr id="18" name="build04 Rounded Rectangle 17"/>
          <p:cNvSpPr/>
          <p:nvPr/>
        </p:nvSpPr>
        <p:spPr>
          <a:xfrm>
            <a:off x="9075191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4 Rectangle 18"/>
          <p:cNvSpPr/>
          <p:nvPr/>
        </p:nvSpPr>
        <p:spPr>
          <a:xfrm>
            <a:off x="9075191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9349511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Readers</a:t>
            </a:r>
          </a:p>
        </p:txBody>
      </p:sp>
      <p:sp>
        <p:nvSpPr>
          <p:cNvPr id="21" name="build04 TextBox 20"/>
          <p:cNvSpPr txBox="1"/>
          <p:nvPr/>
        </p:nvSpPr>
        <p:spPr>
          <a:xfrm>
            <a:off x="9349511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Everyone. Read the post and install the tool for a project or their whole machine.</a:t>
            </a:r>
          </a:p>
        </p:txBody>
      </p:sp>
      <p:sp>
        <p:nvSpPr>
          <p:cNvPr id="22" name="build05 TextBox 21"/>
          <p:cNvSpPr txBox="1"/>
          <p:nvPr/>
        </p:nvSpPr>
        <p:spPr>
          <a:xfrm>
            <a:off x="548640" y="42062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Picking a maintainer for each idea</a:t>
            </a:r>
          </a:p>
        </p:txBody>
      </p:sp>
      <p:sp>
        <p:nvSpPr>
          <p:cNvPr id="23" name="build05 Rounded Rectangle 22"/>
          <p:cNvSpPr/>
          <p:nvPr/>
        </p:nvSpPr>
        <p:spPr>
          <a:xfrm>
            <a:off x="548640" y="4709160"/>
            <a:ext cx="329184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5 TextBox 23"/>
          <p:cNvSpPr txBox="1"/>
          <p:nvPr/>
        </p:nvSpPr>
        <p:spPr>
          <a:xfrm>
            <a:off x="621792" y="4709160"/>
            <a:ext cx="314553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Topic match (e.g. Android, backend, security)</a:t>
            </a:r>
          </a:p>
        </p:txBody>
      </p:sp>
      <p:sp>
        <p:nvSpPr>
          <p:cNvPr id="25" name="build05 Right Arrow 24"/>
          <p:cNvSpPr/>
          <p:nvPr/>
        </p:nvSpPr>
        <p:spPr>
          <a:xfrm>
            <a:off x="3931920" y="4937760"/>
            <a:ext cx="256032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5 Rounded Rectangle 25"/>
          <p:cNvSpPr/>
          <p:nvPr/>
        </p:nvSpPr>
        <p:spPr>
          <a:xfrm>
            <a:off x="4279392" y="4709160"/>
            <a:ext cx="237744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5 TextBox 26"/>
          <p:cNvSpPr txBox="1"/>
          <p:nvPr/>
        </p:nvSpPr>
        <p:spPr>
          <a:xfrm>
            <a:off x="4352544" y="4709160"/>
            <a:ext cx="223113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Otherwise round-robin</a:t>
            </a:r>
          </a:p>
        </p:txBody>
      </p:sp>
      <p:sp>
        <p:nvSpPr>
          <p:cNvPr id="28" name="build05 Right Arrow 27"/>
          <p:cNvSpPr/>
          <p:nvPr/>
        </p:nvSpPr>
        <p:spPr>
          <a:xfrm>
            <a:off x="6748271" y="4937760"/>
            <a:ext cx="256032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build05 Rounded Rectangle 28"/>
          <p:cNvSpPr/>
          <p:nvPr/>
        </p:nvSpPr>
        <p:spPr>
          <a:xfrm>
            <a:off x="7095744" y="4709160"/>
            <a:ext cx="457200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5 TextBox 29"/>
          <p:cNvSpPr txBox="1"/>
          <p:nvPr/>
        </p:nvSpPr>
        <p:spPr>
          <a:xfrm>
            <a:off x="7168896" y="4709160"/>
            <a:ext cx="442569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No reply within 24 hours → next maintainer, everyone told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04 · HOW AN IDEA TRAVELS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Eight steps, all visible in the idea's 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0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Submit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Text and/or links to the bot. Gets a tracking number and a thread.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3379393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3379393" y="1719072"/>
            <a:ext cx="64008" cy="16824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3653713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91C1C"/>
                </a:solidFill>
                <a:latin typeface="Arial"/>
              </a:rPr>
              <a:t>Step 1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3653713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Safety gate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3653713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Nothing starts until the idea and every link pass.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6210147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Rectangle 16"/>
          <p:cNvSpPr/>
          <p:nvPr/>
        </p:nvSpPr>
        <p:spPr>
          <a:xfrm>
            <a:off x="6210147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TextBox 17"/>
          <p:cNvSpPr txBox="1"/>
          <p:nvPr/>
        </p:nvSpPr>
        <p:spPr>
          <a:xfrm>
            <a:off x="6484467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2</a:t>
            </a:r>
          </a:p>
        </p:txBody>
      </p:sp>
      <p:sp>
        <p:nvSpPr>
          <p:cNvPr id="19" name="build03 TextBox 18"/>
          <p:cNvSpPr txBox="1"/>
          <p:nvPr/>
        </p:nvSpPr>
        <p:spPr>
          <a:xfrm>
            <a:off x="6484467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Research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6484467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Reads links, flags duplicates, uses project summaries.</a:t>
            </a:r>
          </a:p>
        </p:txBody>
      </p:sp>
      <p:sp>
        <p:nvSpPr>
          <p:cNvPr id="21" name="build04 Rounded Rectangle 20"/>
          <p:cNvSpPr/>
          <p:nvPr/>
        </p:nvSpPr>
        <p:spPr>
          <a:xfrm>
            <a:off x="9040901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4 Rectangle 21"/>
          <p:cNvSpPr/>
          <p:nvPr/>
        </p:nvSpPr>
        <p:spPr>
          <a:xfrm>
            <a:off x="9040901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4 TextBox 22"/>
          <p:cNvSpPr txBox="1"/>
          <p:nvPr/>
        </p:nvSpPr>
        <p:spPr>
          <a:xfrm>
            <a:off x="9315221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3</a:t>
            </a:r>
          </a:p>
        </p:txBody>
      </p:sp>
      <p:sp>
        <p:nvSpPr>
          <p:cNvPr id="24" name="build04 TextBox 23"/>
          <p:cNvSpPr txBox="1"/>
          <p:nvPr/>
        </p:nvSpPr>
        <p:spPr>
          <a:xfrm>
            <a:off x="9315221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Plan</a:t>
            </a:r>
          </a:p>
        </p:txBody>
      </p:sp>
      <p:sp>
        <p:nvSpPr>
          <p:cNvPr id="25" name="build04 TextBox 24"/>
          <p:cNvSpPr txBox="1"/>
          <p:nvPr/>
        </p:nvSpPr>
        <p:spPr>
          <a:xfrm>
            <a:off x="9315221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Opus posts a plain-language plan in the thread.</a:t>
            </a:r>
          </a:p>
        </p:txBody>
      </p:sp>
      <p:sp>
        <p:nvSpPr>
          <p:cNvPr id="26" name="build05 Rounded Rectangle 25"/>
          <p:cNvSpPr/>
          <p:nvPr/>
        </p:nvSpPr>
        <p:spPr>
          <a:xfrm>
            <a:off x="548640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5 Rectangle 26"/>
          <p:cNvSpPr/>
          <p:nvPr/>
        </p:nvSpPr>
        <p:spPr>
          <a:xfrm>
            <a:off x="548640" y="3959352"/>
            <a:ext cx="64008" cy="16824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5 TextBox 27"/>
          <p:cNvSpPr txBox="1"/>
          <p:nvPr/>
        </p:nvSpPr>
        <p:spPr>
          <a:xfrm>
            <a:off x="822959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45309"/>
                </a:solidFill>
                <a:latin typeface="Arial"/>
              </a:rPr>
              <a:t>Step 4</a:t>
            </a:r>
          </a:p>
        </p:txBody>
      </p:sp>
      <p:sp>
        <p:nvSpPr>
          <p:cNvPr id="29" name="build05 TextBox 28"/>
          <p:cNvSpPr txBox="1"/>
          <p:nvPr/>
        </p:nvSpPr>
        <p:spPr>
          <a:xfrm>
            <a:off x="822959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Resources</a:t>
            </a:r>
          </a:p>
        </p:txBody>
      </p:sp>
      <p:sp>
        <p:nvSpPr>
          <p:cNvPr id="30" name="build05 TextBox 29"/>
          <p:cNvSpPr txBox="1"/>
          <p:nvPr/>
        </p:nvSpPr>
        <p:spPr>
          <a:xfrm>
            <a:off x="822959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Free is automatic. Paid or login goes to a maintainer.</a:t>
            </a:r>
          </a:p>
        </p:txBody>
      </p:sp>
      <p:sp>
        <p:nvSpPr>
          <p:cNvPr id="31" name="build06 Rounded Rectangle 30"/>
          <p:cNvSpPr/>
          <p:nvPr/>
        </p:nvSpPr>
        <p:spPr>
          <a:xfrm>
            <a:off x="3379393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6 Rectangle 31"/>
          <p:cNvSpPr/>
          <p:nvPr/>
        </p:nvSpPr>
        <p:spPr>
          <a:xfrm>
            <a:off x="3379393" y="395935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build06 TextBox 32"/>
          <p:cNvSpPr txBox="1"/>
          <p:nvPr/>
        </p:nvSpPr>
        <p:spPr>
          <a:xfrm>
            <a:off x="3653713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5</a:t>
            </a:r>
          </a:p>
        </p:txBody>
      </p:sp>
      <p:sp>
        <p:nvSpPr>
          <p:cNvPr id="34" name="build06 TextBox 33"/>
          <p:cNvSpPr txBox="1"/>
          <p:nvPr/>
        </p:nvSpPr>
        <p:spPr>
          <a:xfrm>
            <a:off x="3653713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Build &amp; test</a:t>
            </a:r>
          </a:p>
        </p:txBody>
      </p:sp>
      <p:sp>
        <p:nvSpPr>
          <p:cNvPr id="35" name="build06 TextBox 34"/>
          <p:cNvSpPr txBox="1"/>
          <p:nvPr/>
        </p:nvSpPr>
        <p:spPr>
          <a:xfrm>
            <a:off x="3653713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Builder writes code, tests and a README. Running tests in a sandbox is next.</a:t>
            </a:r>
          </a:p>
        </p:txBody>
      </p:sp>
      <p:sp>
        <p:nvSpPr>
          <p:cNvPr id="36" name="build07 Rounded Rectangle 35"/>
          <p:cNvSpPr/>
          <p:nvPr/>
        </p:nvSpPr>
        <p:spPr>
          <a:xfrm>
            <a:off x="6210147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uild07 Rectangle 36"/>
          <p:cNvSpPr/>
          <p:nvPr/>
        </p:nvSpPr>
        <p:spPr>
          <a:xfrm>
            <a:off x="6210147" y="395935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7 TextBox 37"/>
          <p:cNvSpPr txBox="1"/>
          <p:nvPr/>
        </p:nvSpPr>
        <p:spPr>
          <a:xfrm>
            <a:off x="6484467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6</a:t>
            </a:r>
          </a:p>
        </p:txBody>
      </p:sp>
      <p:sp>
        <p:nvSpPr>
          <p:cNvPr id="39" name="build07 TextBox 38"/>
          <p:cNvSpPr txBox="1"/>
          <p:nvPr/>
        </p:nvSpPr>
        <p:spPr>
          <a:xfrm>
            <a:off x="6484467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40" name="build07 TextBox 39"/>
          <p:cNvSpPr txBox="1"/>
          <p:nvPr/>
        </p:nvSpPr>
        <p:spPr>
          <a:xfrm>
            <a:off x="6484467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Opus review with a safety check, one fix round, human final yes.</a:t>
            </a:r>
          </a:p>
        </p:txBody>
      </p:sp>
      <p:sp>
        <p:nvSpPr>
          <p:cNvPr id="41" name="build08 Rounded Rectangle 40"/>
          <p:cNvSpPr/>
          <p:nvPr/>
        </p:nvSpPr>
        <p:spPr>
          <a:xfrm>
            <a:off x="9040901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8 Rectangle 41"/>
          <p:cNvSpPr/>
          <p:nvPr/>
        </p:nvSpPr>
        <p:spPr>
          <a:xfrm>
            <a:off x="9040901" y="3959352"/>
            <a:ext cx="64008" cy="16824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build08 TextBox 42"/>
          <p:cNvSpPr txBox="1"/>
          <p:nvPr/>
        </p:nvSpPr>
        <p:spPr>
          <a:xfrm>
            <a:off x="9315221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Step 7</a:t>
            </a:r>
          </a:p>
        </p:txBody>
      </p:sp>
      <p:sp>
        <p:nvSpPr>
          <p:cNvPr id="44" name="build08 TextBox 43"/>
          <p:cNvSpPr txBox="1"/>
          <p:nvPr/>
        </p:nvSpPr>
        <p:spPr>
          <a:xfrm>
            <a:off x="9315221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Publish</a:t>
            </a:r>
          </a:p>
        </p:txBody>
      </p:sp>
      <p:sp>
        <p:nvSpPr>
          <p:cNvPr id="45" name="build08 TextBox 44"/>
          <p:cNvSpPr txBox="1"/>
          <p:nvPr/>
        </p:nvSpPr>
        <p:spPr>
          <a:xfrm>
            <a:off x="9315221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Versioned release, short blog post, poster credited.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40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2800"/>
                            </p:stCondLst>
                            <p:childTnLst>
                              <p:par>
                                <p:cTn id="1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/>
      <p:bldP spid="31" grpId="0" animBg="1"/>
      <p:bldP spid="32" grpId="0" animBg="1"/>
      <p:bldP spid="33" grpId="0"/>
      <p:bldP spid="34" grpId="0"/>
      <p:bldP spid="35" grpId="0"/>
      <p:bldP spid="36" grpId="0" animBg="1"/>
      <p:bldP spid="37" grpId="0" animBg="1"/>
      <p:bldP spid="38" grpId="0"/>
      <p:bldP spid="39" grpId="0"/>
      <p:bldP spid="40" grpId="0"/>
      <p:bldP spid="41" grpId="0" animBg="1"/>
      <p:bldP spid="42" grpId="0" animBg="1"/>
      <p:bldP spid="43" grpId="0"/>
      <p:bldP spid="44" grpId="0"/>
      <p:bldP spid="4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05 · STRICT SAFETY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Nothing starts before this 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TextBox 5"/>
          <p:cNvSpPr txBox="1"/>
          <p:nvPr/>
        </p:nvSpPr>
        <p:spPr>
          <a:xfrm>
            <a:off x="548640" y="155448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Rejected or flagged</a:t>
            </a:r>
          </a:p>
        </p:txBody>
      </p:sp>
      <p:sp>
        <p:nvSpPr>
          <p:cNvPr id="7" name="build01 Rounded Rectangle 6"/>
          <p:cNvSpPr/>
          <p:nvPr/>
        </p:nvSpPr>
        <p:spPr>
          <a:xfrm>
            <a:off x="548640" y="21945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914400" y="2011680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Adult content, hate, harassment, violence, policy breaches</a:t>
            </a:r>
          </a:p>
        </p:txBody>
      </p:sp>
      <p:sp>
        <p:nvSpPr>
          <p:cNvPr id="9" name="build01 Rounded Rectangle 8"/>
          <p:cNvSpPr/>
          <p:nvPr/>
        </p:nvSpPr>
        <p:spPr>
          <a:xfrm>
            <a:off x="548640" y="285292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1 TextBox 9"/>
          <p:cNvSpPr txBox="1"/>
          <p:nvPr/>
        </p:nvSpPr>
        <p:spPr>
          <a:xfrm>
            <a:off x="914400" y="2670048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Malware, credential stealers, miners, hidden network calls</a:t>
            </a:r>
          </a:p>
        </p:txBody>
      </p:sp>
      <p:sp>
        <p:nvSpPr>
          <p:cNvPr id="11" name="build01 Rounded Rectangle 10"/>
          <p:cNvSpPr/>
          <p:nvPr/>
        </p:nvSpPr>
        <p:spPr>
          <a:xfrm>
            <a:off x="548640" y="351129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1 TextBox 11"/>
          <p:cNvSpPr txBox="1"/>
          <p:nvPr/>
        </p:nvSpPr>
        <p:spPr>
          <a:xfrm>
            <a:off x="914400" y="3328416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Hidden instructions in web pages aimed at the AI</a:t>
            </a:r>
          </a:p>
        </p:txBody>
      </p:sp>
      <p:sp>
        <p:nvSpPr>
          <p:cNvPr id="13" name="build01 Rounded Rectangle 12"/>
          <p:cNvSpPr/>
          <p:nvPr/>
        </p:nvSpPr>
        <p:spPr>
          <a:xfrm>
            <a:off x="548640" y="416966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1 TextBox 13"/>
          <p:cNvSpPr txBox="1"/>
          <p:nvPr/>
        </p:nvSpPr>
        <p:spPr>
          <a:xfrm>
            <a:off x="914400" y="3986784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Requests to leak secrets, customer data or company code</a:t>
            </a:r>
          </a:p>
        </p:txBody>
      </p:sp>
      <p:sp>
        <p:nvSpPr>
          <p:cNvPr id="15" name="build01 Rounded Rectangle 14"/>
          <p:cNvSpPr/>
          <p:nvPr/>
        </p:nvSpPr>
        <p:spPr>
          <a:xfrm>
            <a:off x="548640" y="482803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1 TextBox 15"/>
          <p:cNvSpPr txBox="1"/>
          <p:nvPr/>
        </p:nvSpPr>
        <p:spPr>
          <a:xfrm>
            <a:off x="914400" y="4645152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Licences we cannot use, or piracy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708660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Three outcomes</a:t>
            </a:r>
          </a:p>
        </p:txBody>
      </p:sp>
      <p:sp>
        <p:nvSpPr>
          <p:cNvPr id="18" name="build02 Rounded Rectangle 17"/>
          <p:cNvSpPr/>
          <p:nvPr/>
        </p:nvSpPr>
        <p:spPr>
          <a:xfrm>
            <a:off x="7086600" y="201168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2 TextBox 18"/>
          <p:cNvSpPr txBox="1"/>
          <p:nvPr/>
        </p:nvSpPr>
        <p:spPr>
          <a:xfrm>
            <a:off x="7315200" y="201168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766E"/>
                </a:solidFill>
                <a:latin typeface="Arial"/>
              </a:rPr>
              <a:t>Pass</a:t>
            </a:r>
          </a:p>
        </p:txBody>
      </p:sp>
      <p:sp>
        <p:nvSpPr>
          <p:cNvPr id="20" name="build02 TextBox 19"/>
          <p:cNvSpPr txBox="1"/>
          <p:nvPr/>
        </p:nvSpPr>
        <p:spPr>
          <a:xfrm>
            <a:off x="8412480" y="2011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Work continues.</a:t>
            </a:r>
          </a:p>
        </p:txBody>
      </p:sp>
      <p:sp>
        <p:nvSpPr>
          <p:cNvPr id="21" name="build02 Rounded Rectangle 20"/>
          <p:cNvSpPr/>
          <p:nvPr/>
        </p:nvSpPr>
        <p:spPr>
          <a:xfrm>
            <a:off x="7086600" y="301752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2 TextBox 21"/>
          <p:cNvSpPr txBox="1"/>
          <p:nvPr/>
        </p:nvSpPr>
        <p:spPr>
          <a:xfrm>
            <a:off x="7315200" y="301752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45309"/>
                </a:solidFill>
                <a:latin typeface="Arial"/>
              </a:rPr>
              <a:t>Unsure</a:t>
            </a:r>
          </a:p>
        </p:txBody>
      </p:sp>
      <p:sp>
        <p:nvSpPr>
          <p:cNvPr id="23" name="build02 TextBox 22"/>
          <p:cNvSpPr txBox="1"/>
          <p:nvPr/>
        </p:nvSpPr>
        <p:spPr>
          <a:xfrm>
            <a:off x="8412480" y="30175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The assigned maintainer decides in chat.</a:t>
            </a:r>
          </a:p>
        </p:txBody>
      </p:sp>
      <p:sp>
        <p:nvSpPr>
          <p:cNvPr id="24" name="build02 Rounded Rectangle 23"/>
          <p:cNvSpPr/>
          <p:nvPr/>
        </p:nvSpPr>
        <p:spPr>
          <a:xfrm>
            <a:off x="7086600" y="402336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2 TextBox 24"/>
          <p:cNvSpPr txBox="1"/>
          <p:nvPr/>
        </p:nvSpPr>
        <p:spPr>
          <a:xfrm>
            <a:off x="7315200" y="402336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91C1C"/>
                </a:solidFill>
                <a:latin typeface="Arial"/>
              </a:rPr>
              <a:t>Reject</a:t>
            </a:r>
          </a:p>
        </p:txBody>
      </p:sp>
      <p:sp>
        <p:nvSpPr>
          <p:cNvPr id="26" name="build02 TextBox 25"/>
          <p:cNvSpPr txBox="1"/>
          <p:nvPr/>
        </p:nvSpPr>
        <p:spPr>
          <a:xfrm>
            <a:off x="8412480" y="402336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Poster told why, politely; maintainer copied.</a:t>
            </a:r>
          </a:p>
        </p:txBody>
      </p:sp>
      <p:sp>
        <p:nvSpPr>
          <p:cNvPr id="27" name="build03 Rounded Rectangle 26"/>
          <p:cNvSpPr/>
          <p:nvPr/>
        </p:nvSpPr>
        <p:spPr>
          <a:xfrm>
            <a:off x="548640" y="534924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3 TextBox 27"/>
          <p:cNvSpPr txBox="1"/>
          <p:nvPr/>
        </p:nvSpPr>
        <p:spPr>
          <a:xfrm>
            <a:off x="822959" y="5349240"/>
            <a:ext cx="1054577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FFFFFF"/>
                </a:solidFill>
                <a:latin typeface="Arial"/>
              </a:rPr>
              <a:t>Links are read by a separate process with no secrets, never on a laptop. The review checks the finished code for safety again.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8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  <p:bldP spid="27" grpId="0" animBg="1"/>
      <p:bldP spid="2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06 ·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Free is automatic. Paid or login goes to a human.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554480"/>
            <a:ext cx="5364327" cy="324612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868680" y="17373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766E"/>
                </a:solidFill>
                <a:latin typeface="Arial"/>
              </a:rPr>
              <a:t>Fast lane</a:t>
            </a:r>
          </a:p>
        </p:txBody>
      </p:sp>
      <p:sp>
        <p:nvSpPr>
          <p:cNvPr id="8" name="build01 TextBox 7"/>
          <p:cNvSpPr txBox="1"/>
          <p:nvPr/>
        </p:nvSpPr>
        <p:spPr>
          <a:xfrm>
            <a:off x="868680" y="228600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When: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Free and needs no account: open-source libraries, public docs, free public APIs without a key.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68680" y="3291840"/>
            <a:ext cx="47242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Bot: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Uses it automatically and notes it in the thread.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6278727" y="1554480"/>
            <a:ext cx="5364327" cy="32461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TextBox 10"/>
          <p:cNvSpPr txBox="1"/>
          <p:nvPr/>
        </p:nvSpPr>
        <p:spPr>
          <a:xfrm>
            <a:off x="6598767" y="17373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B45309"/>
                </a:solidFill>
                <a:latin typeface="Arial"/>
              </a:rPr>
              <a:t>Escalation lane</a:t>
            </a:r>
          </a:p>
        </p:txBody>
      </p:sp>
      <p:sp>
        <p:nvSpPr>
          <p:cNvPr id="12" name="build02 TextBox 11"/>
          <p:cNvSpPr txBox="1"/>
          <p:nvPr/>
        </p:nvSpPr>
        <p:spPr>
          <a:xfrm>
            <a:off x="6598767" y="228600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When: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Paid, behind a login, or needs an API key, a licence or a new account.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6598767" y="3291840"/>
            <a:ext cx="47242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Bot: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Stops and asks the maintainers in chat: what it is, why, and the cost.</a:t>
            </a:r>
          </a:p>
        </p:txBody>
      </p:sp>
      <p:sp>
        <p:nvSpPr>
          <p:cNvPr id="14" name="build02 Rounded Rectangle 13"/>
          <p:cNvSpPr/>
          <p:nvPr/>
        </p:nvSpPr>
        <p:spPr>
          <a:xfrm>
            <a:off x="6598767" y="41148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2 TextBox 14"/>
          <p:cNvSpPr txBox="1"/>
          <p:nvPr/>
        </p:nvSpPr>
        <p:spPr>
          <a:xfrm>
            <a:off x="6671919" y="4114800"/>
            <a:ext cx="11338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Approve</a:t>
            </a:r>
          </a:p>
        </p:txBody>
      </p:sp>
      <p:sp>
        <p:nvSpPr>
          <p:cNvPr id="16" name="build02 Rounded Rectangle 15"/>
          <p:cNvSpPr/>
          <p:nvPr/>
        </p:nvSpPr>
        <p:spPr>
          <a:xfrm>
            <a:off x="8016087" y="4114800"/>
            <a:ext cx="118872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2 TextBox 16"/>
          <p:cNvSpPr txBox="1"/>
          <p:nvPr/>
        </p:nvSpPr>
        <p:spPr>
          <a:xfrm>
            <a:off x="8089239" y="4114800"/>
            <a:ext cx="104241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Deny</a:t>
            </a:r>
          </a:p>
        </p:txBody>
      </p:sp>
      <p:sp>
        <p:nvSpPr>
          <p:cNvPr id="18" name="build02 Rounded Rectangle 17"/>
          <p:cNvSpPr/>
          <p:nvPr/>
        </p:nvSpPr>
        <p:spPr>
          <a:xfrm>
            <a:off x="9341967" y="4114800"/>
            <a:ext cx="21945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2 TextBox 18"/>
          <p:cNvSpPr txBox="1"/>
          <p:nvPr/>
        </p:nvSpPr>
        <p:spPr>
          <a:xfrm>
            <a:off x="9415119" y="4114800"/>
            <a:ext cx="20482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Suggest alternative</a:t>
            </a:r>
          </a:p>
        </p:txBody>
      </p:sp>
      <p:sp>
        <p:nvSpPr>
          <p:cNvPr id="20" name="build03 Rounded Rectangle 19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3 TextBox 20"/>
          <p:cNvSpPr txBox="1"/>
          <p:nvPr/>
        </p:nvSpPr>
        <p:spPr>
          <a:xfrm>
            <a:off x="822959" y="5074920"/>
            <a:ext cx="10545775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bot never creates accounts, enters passwords or spends money. Keys go into the server's secret file, never into chat.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fast lane only skips resource approval — every release still needs a human yes.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8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/>
      <p:bldP spid="10" grpId="0" animBg="1"/>
      <p:bldP spid="11" grpId="0"/>
      <p:bldP spid="12" grpId="0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07 · REVIEW AND APPROVE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Three checks before anything 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23225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Opus code review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Correctness, security, tests, readability. Problems go back to the builder, then Opus reviews again.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3977640" y="2788920"/>
            <a:ext cx="329184" cy="310896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ounded Rectangle 11"/>
          <p:cNvSpPr/>
          <p:nvPr/>
        </p:nvSpPr>
        <p:spPr>
          <a:xfrm>
            <a:off x="4448556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4448556" y="1764792"/>
            <a:ext cx="64008" cy="23225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4722876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4722876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Safety check again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4722876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On the finished code and every dependency. A safe idea can still produce unsafe code.</a:t>
            </a:r>
          </a:p>
        </p:txBody>
      </p:sp>
      <p:sp>
        <p:nvSpPr>
          <p:cNvPr id="17" name="build02 Right Arrow 16"/>
          <p:cNvSpPr/>
          <p:nvPr/>
        </p:nvSpPr>
        <p:spPr>
          <a:xfrm>
            <a:off x="7877556" y="2788920"/>
            <a:ext cx="329184" cy="310896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Rounded Rectangle 17"/>
          <p:cNvSpPr/>
          <p:nvPr/>
        </p:nvSpPr>
        <p:spPr>
          <a:xfrm>
            <a:off x="8348472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8348472" y="1764792"/>
            <a:ext cx="64008" cy="232257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8622792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8622792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A human says yes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8622792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A maintainer gives the final approval. Nothing reaches colleagues without it.</a:t>
            </a:r>
          </a:p>
        </p:txBody>
      </p:sp>
      <p:pic>
        <p:nvPicPr>
          <p:cNvPr id="23" name="build04 Picture 22" descr="review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174175" y="4526280"/>
            <a:ext cx="2468880" cy="1645920"/>
          </a:xfrm>
          <a:prstGeom prst="rect">
            <a:avLst/>
          </a:prstGeom>
        </p:spPr>
      </p:pic>
      <p:sp>
        <p:nvSpPr>
          <p:cNvPr id="24" name="build04 Rounded Rectangle 23"/>
          <p:cNvSpPr/>
          <p:nvPr/>
        </p:nvSpPr>
        <p:spPr>
          <a:xfrm>
            <a:off x="548640" y="4526280"/>
            <a:ext cx="8351215" cy="164592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TextBox 24"/>
          <p:cNvSpPr txBox="1"/>
          <p:nvPr/>
        </p:nvSpPr>
        <p:spPr>
          <a:xfrm>
            <a:off x="914400" y="4526280"/>
            <a:ext cx="7619695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Only Opus reviews code. </a:t>
            </a:r>
            <a:r>
              <a:rPr sz="1800" b="0" i="0">
                <a:solidFill>
                  <a:srgbClr val="0F172A"/>
                </a:solidFill>
                <a:latin typeface="Arial"/>
              </a:rPr>
              <a:t>The builder never approves code, and never reviews its own work.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20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/>
      <p:bldP spid="21" grpId="0"/>
      <p:bldP spid="22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08 · KEEPING PEOPLE INFORMED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poster and maintainer see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621792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Received</a:t>
            </a:r>
          </a:p>
        </p:txBody>
      </p:sp>
      <p:sp>
        <p:nvSpPr>
          <p:cNvPr id="8" name="build01 Right Arrow 7"/>
          <p:cNvSpPr/>
          <p:nvPr/>
        </p:nvSpPr>
        <p:spPr>
          <a:xfrm>
            <a:off x="2395727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Rounded Rectangle 8"/>
          <p:cNvSpPr/>
          <p:nvPr/>
        </p:nvSpPr>
        <p:spPr>
          <a:xfrm>
            <a:off x="2660903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1 TextBox 9"/>
          <p:cNvSpPr txBox="1"/>
          <p:nvPr/>
        </p:nvSpPr>
        <p:spPr>
          <a:xfrm>
            <a:off x="2734056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Safety check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4507992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1 Rounded Rectangle 11"/>
          <p:cNvSpPr/>
          <p:nvPr/>
        </p:nvSpPr>
        <p:spPr>
          <a:xfrm>
            <a:off x="4773168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1 TextBox 12"/>
          <p:cNvSpPr txBox="1"/>
          <p:nvPr/>
        </p:nvSpPr>
        <p:spPr>
          <a:xfrm>
            <a:off x="4846320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Researching</a:t>
            </a:r>
          </a:p>
        </p:txBody>
      </p:sp>
      <p:sp>
        <p:nvSpPr>
          <p:cNvPr id="14" name="build01 Right Arrow 13"/>
          <p:cNvSpPr/>
          <p:nvPr/>
        </p:nvSpPr>
        <p:spPr>
          <a:xfrm>
            <a:off x="6620256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1 Rounded Rectangle 14"/>
          <p:cNvSpPr/>
          <p:nvPr/>
        </p:nvSpPr>
        <p:spPr>
          <a:xfrm>
            <a:off x="6885432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1 TextBox 15"/>
          <p:cNvSpPr txBox="1"/>
          <p:nvPr/>
        </p:nvSpPr>
        <p:spPr>
          <a:xfrm>
            <a:off x="6958584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Plan ready</a:t>
            </a:r>
          </a:p>
        </p:txBody>
      </p:sp>
      <p:sp>
        <p:nvSpPr>
          <p:cNvPr id="17" name="build01 Right Arrow 16"/>
          <p:cNvSpPr/>
          <p:nvPr/>
        </p:nvSpPr>
        <p:spPr>
          <a:xfrm>
            <a:off x="8732520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1 Rounded Rectangle 17"/>
          <p:cNvSpPr/>
          <p:nvPr/>
        </p:nvSpPr>
        <p:spPr>
          <a:xfrm>
            <a:off x="8997696" y="1691640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1 TextBox 18"/>
          <p:cNvSpPr txBox="1"/>
          <p:nvPr/>
        </p:nvSpPr>
        <p:spPr>
          <a:xfrm>
            <a:off x="9070848" y="169164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Waiting for approval</a:t>
            </a:r>
          </a:p>
        </p:txBody>
      </p:sp>
      <p:sp>
        <p:nvSpPr>
          <p:cNvPr id="20" name="build02 Rounded Rectangle 19"/>
          <p:cNvSpPr/>
          <p:nvPr/>
        </p:nvSpPr>
        <p:spPr>
          <a:xfrm>
            <a:off x="548640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2 TextBox 20"/>
          <p:cNvSpPr txBox="1"/>
          <p:nvPr/>
        </p:nvSpPr>
        <p:spPr>
          <a:xfrm>
            <a:off x="621792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Building</a:t>
            </a:r>
          </a:p>
        </p:txBody>
      </p:sp>
      <p:sp>
        <p:nvSpPr>
          <p:cNvPr id="22" name="build02 Right Arrow 21"/>
          <p:cNvSpPr/>
          <p:nvPr/>
        </p:nvSpPr>
        <p:spPr>
          <a:xfrm>
            <a:off x="2395727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2 Rounded Rectangle 22"/>
          <p:cNvSpPr/>
          <p:nvPr/>
        </p:nvSpPr>
        <p:spPr>
          <a:xfrm>
            <a:off x="2660903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2 TextBox 23"/>
          <p:cNvSpPr txBox="1"/>
          <p:nvPr/>
        </p:nvSpPr>
        <p:spPr>
          <a:xfrm>
            <a:off x="2734056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Under review</a:t>
            </a:r>
          </a:p>
        </p:txBody>
      </p:sp>
      <p:sp>
        <p:nvSpPr>
          <p:cNvPr id="25" name="build02 Right Arrow 24"/>
          <p:cNvSpPr/>
          <p:nvPr/>
        </p:nvSpPr>
        <p:spPr>
          <a:xfrm>
            <a:off x="4507992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2 Rounded Rectangle 25"/>
          <p:cNvSpPr/>
          <p:nvPr/>
        </p:nvSpPr>
        <p:spPr>
          <a:xfrm>
            <a:off x="4773168" y="2651760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2 TextBox 26"/>
          <p:cNvSpPr txBox="1"/>
          <p:nvPr/>
        </p:nvSpPr>
        <p:spPr>
          <a:xfrm>
            <a:off x="4846320" y="265176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Published or stopped</a:t>
            </a:r>
          </a:p>
        </p:txBody>
      </p:sp>
      <p:sp>
        <p:nvSpPr>
          <p:cNvPr id="28" name="build02 TextBox 27"/>
          <p:cNvSpPr txBox="1"/>
          <p:nvPr/>
        </p:nvSpPr>
        <p:spPr>
          <a:xfrm>
            <a:off x="548640" y="33375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“Waiting for approval” appears only when a paid resource or login is needed. A “Testing” stage joins once builds run in a sandbox.</a:t>
            </a:r>
          </a:p>
        </p:txBody>
      </p:sp>
      <p:pic>
        <p:nvPicPr>
          <p:cNvPr id="29" name="build03 Picture 28" descr="phone.jpg"/>
          <p:cNvPicPr>
            <a:picLocks noChangeAspect="1"/>
          </p:cNvPicPr>
          <p:nvPr/>
        </p:nvPicPr>
        <p:blipFill>
          <a:blip r:embed="rId3"/>
          <a:srcRect t="85" b="85"/>
          <a:stretch>
            <a:fillRect/>
          </a:stretch>
        </p:blipFill>
        <p:spPr>
          <a:xfrm>
            <a:off x="8963863" y="3931920"/>
            <a:ext cx="2679192" cy="1783080"/>
          </a:xfrm>
          <a:prstGeom prst="rect">
            <a:avLst/>
          </a:prstGeom>
        </p:spPr>
      </p:pic>
      <p:sp>
        <p:nvSpPr>
          <p:cNvPr id="30" name="build03 Rounded Rectangle 29"/>
          <p:cNvSpPr/>
          <p:nvPr/>
        </p:nvSpPr>
        <p:spPr>
          <a:xfrm>
            <a:off x="548640" y="3931920"/>
            <a:ext cx="3933291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3 Rectangle 30"/>
          <p:cNvSpPr/>
          <p:nvPr/>
        </p:nvSpPr>
        <p:spPr>
          <a:xfrm>
            <a:off x="548640" y="4096511"/>
            <a:ext cx="64008" cy="1453895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3 TextBox 31"/>
          <p:cNvSpPr txBox="1"/>
          <p:nvPr/>
        </p:nvSpPr>
        <p:spPr>
          <a:xfrm>
            <a:off x="822959" y="4114800"/>
            <a:ext cx="34760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Where</a:t>
            </a:r>
          </a:p>
        </p:txBody>
      </p:sp>
      <p:sp>
        <p:nvSpPr>
          <p:cNvPr id="33" name="build03 TextBox 32"/>
          <p:cNvSpPr txBox="1"/>
          <p:nvPr/>
        </p:nvSpPr>
        <p:spPr>
          <a:xfrm>
            <a:off x="822959" y="4572000"/>
            <a:ext cx="3476091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Every update goes into the idea's own thread; the maintainer's buttons come in a direct message.</a:t>
            </a:r>
          </a:p>
        </p:txBody>
      </p:sp>
      <p:sp>
        <p:nvSpPr>
          <p:cNvPr id="34" name="build03 Rounded Rectangle 33"/>
          <p:cNvSpPr/>
          <p:nvPr/>
        </p:nvSpPr>
        <p:spPr>
          <a:xfrm>
            <a:off x="4756251" y="3931920"/>
            <a:ext cx="3933291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build03 Rectangle 34"/>
          <p:cNvSpPr/>
          <p:nvPr/>
        </p:nvSpPr>
        <p:spPr>
          <a:xfrm>
            <a:off x="4756251" y="4096511"/>
            <a:ext cx="64008" cy="1453895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uild03 TextBox 35"/>
          <p:cNvSpPr txBox="1"/>
          <p:nvPr/>
        </p:nvSpPr>
        <p:spPr>
          <a:xfrm>
            <a:off x="5030571" y="4114800"/>
            <a:ext cx="34760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What they can do</a:t>
            </a:r>
          </a:p>
        </p:txBody>
      </p:sp>
      <p:sp>
        <p:nvSpPr>
          <p:cNvPr id="37" name="build03 TextBox 36"/>
          <p:cNvSpPr txBox="1"/>
          <p:nvPr/>
        </p:nvSpPr>
        <p:spPr>
          <a:xfrm>
            <a:off x="5030571" y="4572000"/>
            <a:ext cx="3476091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Reply to ask a question, add details, or stop the idea. If a step runs long, the bot says so.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800"/>
                            </p:stCondLst>
                            <p:childTnLst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/>
      <p:bldP spid="14" grpId="0" animBg="1"/>
      <p:bldP spid="15" grpId="0" animBg="1"/>
      <p:bldP spid="16" grpId="0"/>
      <p:bldP spid="17" grpId="0" animBg="1"/>
      <p:bldP spid="18" grpId="0" animBg="1"/>
      <p:bldP spid="19" grpId="0"/>
      <p:bldP spid="20" grpId="0" animBg="1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09 · WHAT GETS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Ready-to-install tools for AI coding assistants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Skills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Reusable “how to do X” guides the assistant follows.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3390823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3390823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3665143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MCP servers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3665143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Small services that give assistants new abilities, e.g. read the issue tracker.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6233007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6233007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6507327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Tools &amp; scripts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6507327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Command-line helpers.</a:t>
            </a:r>
          </a:p>
        </p:txBody>
      </p:sp>
      <p:sp>
        <p:nvSpPr>
          <p:cNvPr id="18" name="build04 Rounded Rectangle 17"/>
          <p:cNvSpPr/>
          <p:nvPr/>
        </p:nvSpPr>
        <p:spPr>
          <a:xfrm>
            <a:off x="9075191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4 Rectangle 18"/>
          <p:cNvSpPr/>
          <p:nvPr/>
        </p:nvSpPr>
        <p:spPr>
          <a:xfrm>
            <a:off x="9075191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9349511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Plugins</a:t>
            </a:r>
          </a:p>
        </p:txBody>
      </p:sp>
      <p:sp>
        <p:nvSpPr>
          <p:cNvPr id="21" name="build04 TextBox 20"/>
          <p:cNvSpPr txBox="1"/>
          <p:nvPr/>
        </p:nvSpPr>
        <p:spPr>
          <a:xfrm>
            <a:off x="9349511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Bundles that install several of the above at once.</a:t>
            </a:r>
          </a:p>
        </p:txBody>
      </p:sp>
      <p:sp>
        <p:nvSpPr>
          <p:cNvPr id="22" name="build05 TextBox 21"/>
          <p:cNvSpPr txBox="1"/>
          <p:nvPr/>
        </p:nvSpPr>
        <p:spPr>
          <a:xfrm>
            <a:off x="548640" y="40233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Claude Code first; Gemini CLI and Codex next</a:t>
            </a:r>
          </a:p>
        </p:txBody>
      </p:sp>
      <p:sp>
        <p:nvSpPr>
          <p:cNvPr id="23" name="build05 Rounded Rectangle 22"/>
          <p:cNvSpPr/>
          <p:nvPr/>
        </p:nvSpPr>
        <p:spPr>
          <a:xfrm>
            <a:off x="548640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5 TextBox 23"/>
          <p:cNvSpPr txBox="1"/>
          <p:nvPr/>
        </p:nvSpPr>
        <p:spPr>
          <a:xfrm>
            <a:off x="621792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Claude · Claude Code</a:t>
            </a:r>
          </a:p>
        </p:txBody>
      </p:sp>
      <p:sp>
        <p:nvSpPr>
          <p:cNvPr id="25" name="build05 Rounded Rectangle 24"/>
          <p:cNvSpPr/>
          <p:nvPr/>
        </p:nvSpPr>
        <p:spPr>
          <a:xfrm>
            <a:off x="4338218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5 TextBox 25"/>
          <p:cNvSpPr txBox="1"/>
          <p:nvPr/>
        </p:nvSpPr>
        <p:spPr>
          <a:xfrm>
            <a:off x="4411370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Gemini · Gemini CLI</a:t>
            </a:r>
          </a:p>
        </p:txBody>
      </p:sp>
      <p:sp>
        <p:nvSpPr>
          <p:cNvPr id="27" name="build05 Rounded Rectangle 26"/>
          <p:cNvSpPr/>
          <p:nvPr/>
        </p:nvSpPr>
        <p:spPr>
          <a:xfrm>
            <a:off x="8127796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5 TextBox 27"/>
          <p:cNvSpPr txBox="1"/>
          <p:nvPr/>
        </p:nvSpPr>
        <p:spPr>
          <a:xfrm>
            <a:off x="8200948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ChatGPT · Codex</a:t>
            </a:r>
          </a:p>
        </p:txBody>
      </p:sp>
      <p:sp>
        <p:nvSpPr>
          <p:cNvPr id="29" name="build05 TextBox 28"/>
          <p:cNvSpPr txBox="1"/>
          <p:nvPr/>
        </p:nvSpPr>
        <p:spPr>
          <a:xfrm>
            <a:off x="548640" y="539496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The builder writes Claude Code files today. Later: one shared core with a thin adapter per assistant, so an idea is never rebuilt three times.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/>
      <p:bldP spid="25" grpId="0" animBg="1"/>
      <p:bldP spid="26" grpId="0"/>
      <p:bldP spid="27" grpId="0" animBg="1"/>
      <p:bldP spid="28" grpId="0"/>
      <p:bldP spid="2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10 · INSTALLING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Your project or your whole machine — your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5364327" cy="32918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868680" y="178308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172A"/>
                </a:solidFill>
                <a:latin typeface="Arial"/>
              </a:rPr>
              <a:t>This project only</a:t>
            </a:r>
          </a:p>
        </p:txBody>
      </p:sp>
      <p:sp>
        <p:nvSpPr>
          <p:cNvPr id="8" name="build01 Rounded Rectangle 7"/>
          <p:cNvSpPr/>
          <p:nvPr/>
        </p:nvSpPr>
        <p:spPr>
          <a:xfrm>
            <a:off x="868680" y="2377440"/>
            <a:ext cx="4724247" cy="5486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TextBox 8"/>
          <p:cNvSpPr txBox="1"/>
          <p:nvPr/>
        </p:nvSpPr>
        <p:spPr>
          <a:xfrm>
            <a:off x="1051560" y="2377440"/>
            <a:ext cx="4358487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devex install &lt;tool&gt; --project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68680" y="310896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E293B"/>
                </a:solidFill>
                <a:latin typeface="Arial"/>
              </a:rPr>
              <a:t>Files go into the project's folder (.claude/, .gemini/, .codex/) and can be committed, so the whole team gets it.</a:t>
            </a:r>
          </a:p>
        </p:txBody>
      </p:sp>
      <p:sp>
        <p:nvSpPr>
          <p:cNvPr id="11" name="build01 TextBox 10"/>
          <p:cNvSpPr txBox="1"/>
          <p:nvPr/>
        </p:nvSpPr>
        <p:spPr>
          <a:xfrm>
            <a:off x="868680" y="42519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Good for: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Team or project tools</a:t>
            </a:r>
          </a:p>
        </p:txBody>
      </p:sp>
      <p:sp>
        <p:nvSpPr>
          <p:cNvPr id="12" name="build02 Rounded Rectangle 11"/>
          <p:cNvSpPr/>
          <p:nvPr/>
        </p:nvSpPr>
        <p:spPr>
          <a:xfrm>
            <a:off x="6278727" y="1600200"/>
            <a:ext cx="5364327" cy="32918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6598767" y="178308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172A"/>
                </a:solidFill>
                <a:latin typeface="Arial"/>
              </a:rPr>
              <a:t>My whole machine</a:t>
            </a:r>
          </a:p>
        </p:txBody>
      </p:sp>
      <p:sp>
        <p:nvSpPr>
          <p:cNvPr id="14" name="build02 Rounded Rectangle 13"/>
          <p:cNvSpPr/>
          <p:nvPr/>
        </p:nvSpPr>
        <p:spPr>
          <a:xfrm>
            <a:off x="6598767" y="2377440"/>
            <a:ext cx="4724247" cy="5486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2 TextBox 14"/>
          <p:cNvSpPr txBox="1"/>
          <p:nvPr/>
        </p:nvSpPr>
        <p:spPr>
          <a:xfrm>
            <a:off x="6781647" y="2377440"/>
            <a:ext cx="4358487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devex install &lt;tool&gt; --global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6598767" y="310896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E293B"/>
                </a:solidFill>
                <a:latin typeface="Arial"/>
              </a:rPr>
              <a:t>Files go into your personal settings folder and work in every project.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6598767" y="42519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Good for: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Personal productivity tools</a:t>
            </a:r>
          </a:p>
        </p:txBody>
      </p:sp>
      <p:sp>
        <p:nvSpPr>
          <p:cNvPr id="18" name="build03 Rounded Rectangle 17"/>
          <p:cNvSpPr/>
          <p:nvPr/>
        </p:nvSpPr>
        <p:spPr>
          <a:xfrm>
            <a:off x="548640" y="5212080"/>
            <a:ext cx="5364327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TextBox 18"/>
          <p:cNvSpPr txBox="1"/>
          <p:nvPr/>
        </p:nvSpPr>
        <p:spPr>
          <a:xfrm>
            <a:off x="621792" y="5212080"/>
            <a:ext cx="5218023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Shows exactly what it will change first</a:t>
            </a:r>
          </a:p>
        </p:txBody>
      </p:sp>
      <p:sp>
        <p:nvSpPr>
          <p:cNvPr id="20" name="build03 Rounded Rectangle 19"/>
          <p:cNvSpPr/>
          <p:nvPr/>
        </p:nvSpPr>
        <p:spPr>
          <a:xfrm>
            <a:off x="6278727" y="5212080"/>
            <a:ext cx="5364327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3 TextBox 20"/>
          <p:cNvSpPr txBox="1"/>
          <p:nvPr/>
        </p:nvSpPr>
        <p:spPr>
          <a:xfrm>
            <a:off x="6351879" y="5212080"/>
            <a:ext cx="5218023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devex uninstall removes it cleanly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11 · WHICH AI DOES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Opus thinks and reviews; cheaper models will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1672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Safety gate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Opus; malware and secret scanners to add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Safety mistakes are expensive.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Research &amp; planning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Best reasoning; thinking, not bulk typing.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Writing code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 today; Gemini Flash or a local model planned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Cheap and fast at following a clear plan.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Code review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4338CA"/>
                          </a:solidFill>
                          <a:latin typeface="Arial"/>
                        </a:rPr>
                        <a:t>Claude Opus only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A cheaper model never reviews code or its own work.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Blog post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Written from the approved plan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No extra model needed.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Experiments / evals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Local models on an optional 24 GB GPU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Free to run once the GPU is bought.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12 · BUILT AS A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Fits any company's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Each company picks its own parts in one settings file. The core flow stays the same.</a:t>
            </a:r>
          </a:p>
        </p:txBody>
      </p:sp>
      <p:sp>
        <p:nvSpPr>
          <p:cNvPr id="7" name="build01 Rounded Rectangle 6"/>
          <p:cNvSpPr/>
          <p:nvPr/>
        </p:nvSpPr>
        <p:spPr>
          <a:xfrm>
            <a:off x="548640" y="187451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77240" y="201167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Chat platform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77240" y="237743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Slack today; Teams, Google Chat, Discord and more through a small adapter</a:t>
            </a:r>
          </a:p>
        </p:txBody>
      </p:sp>
      <p:sp>
        <p:nvSpPr>
          <p:cNvPr id="10" name="build01 Rounded Rectangle 9"/>
          <p:cNvSpPr/>
          <p:nvPr/>
        </p:nvSpPr>
        <p:spPr>
          <a:xfrm>
            <a:off x="3886200" y="187451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1 TextBox 10"/>
          <p:cNvSpPr txBox="1"/>
          <p:nvPr/>
        </p:nvSpPr>
        <p:spPr>
          <a:xfrm>
            <a:off x="4114800" y="201167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AI accounts</a:t>
            </a:r>
          </a:p>
        </p:txBody>
      </p:sp>
      <p:sp>
        <p:nvSpPr>
          <p:cNvPr id="12" name="build01 TextBox 11"/>
          <p:cNvSpPr txBox="1"/>
          <p:nvPr/>
        </p:nvSpPr>
        <p:spPr>
          <a:xfrm>
            <a:off x="4114800" y="237743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today; Gemini and ChatGPT next — subscriptions or API keys</a:t>
            </a:r>
          </a:p>
        </p:txBody>
      </p:sp>
      <p:sp>
        <p:nvSpPr>
          <p:cNvPr id="13" name="build01 Rounded Rectangle 12"/>
          <p:cNvSpPr/>
          <p:nvPr/>
        </p:nvSpPr>
        <p:spPr>
          <a:xfrm>
            <a:off x="548640" y="329183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1 TextBox 13"/>
          <p:cNvSpPr txBox="1"/>
          <p:nvPr/>
        </p:nvSpPr>
        <p:spPr>
          <a:xfrm>
            <a:off x="777240" y="342899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Code host</a:t>
            </a:r>
          </a:p>
        </p:txBody>
      </p:sp>
      <p:sp>
        <p:nvSpPr>
          <p:cNvPr id="15" name="build01 TextBox 14"/>
          <p:cNvSpPr txBox="1"/>
          <p:nvPr/>
        </p:nvSpPr>
        <p:spPr>
          <a:xfrm>
            <a:off x="777240" y="379475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GitHub, GitLab, Bitbucket, Azure DevOps, self-hosted Git (later)</a:t>
            </a:r>
          </a:p>
        </p:txBody>
      </p:sp>
      <p:sp>
        <p:nvSpPr>
          <p:cNvPr id="16" name="build01 Rounded Rectangle 15"/>
          <p:cNvSpPr/>
          <p:nvPr/>
        </p:nvSpPr>
        <p:spPr>
          <a:xfrm>
            <a:off x="3886200" y="329183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1 TextBox 16"/>
          <p:cNvSpPr txBox="1"/>
          <p:nvPr/>
        </p:nvSpPr>
        <p:spPr>
          <a:xfrm>
            <a:off x="4114800" y="342899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Secret store</a:t>
            </a:r>
          </a:p>
        </p:txBody>
      </p:sp>
      <p:sp>
        <p:nvSpPr>
          <p:cNvPr id="18" name="build01 TextBox 17"/>
          <p:cNvSpPr txBox="1"/>
          <p:nvPr/>
        </p:nvSpPr>
        <p:spPr>
          <a:xfrm>
            <a:off x="4114800" y="379475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secret file on the server today; Vault or a cloud secret manager</a:t>
            </a:r>
          </a:p>
        </p:txBody>
      </p:sp>
      <p:sp>
        <p:nvSpPr>
          <p:cNvPr id="19" name="build01 Rounded Rectangle 18"/>
          <p:cNvSpPr/>
          <p:nvPr/>
        </p:nvSpPr>
        <p:spPr>
          <a:xfrm>
            <a:off x="548640" y="47091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1 TextBox 19"/>
          <p:cNvSpPr txBox="1"/>
          <p:nvPr/>
        </p:nvSpPr>
        <p:spPr>
          <a:xfrm>
            <a:off x="77724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Blog / website</a:t>
            </a:r>
          </a:p>
        </p:txBody>
      </p:sp>
      <p:sp>
        <p:nvSpPr>
          <p:cNvPr id="21" name="build01 TextBox 20"/>
          <p:cNvSpPr txBox="1"/>
          <p:nvPr/>
        </p:nvSpPr>
        <p:spPr>
          <a:xfrm>
            <a:off x="777240" y="52120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Built into the dashboard; posts are Markdown files any site can show</a:t>
            </a:r>
          </a:p>
        </p:txBody>
      </p:sp>
      <p:sp>
        <p:nvSpPr>
          <p:cNvPr id="22" name="build01 Rounded Rectangle 21"/>
          <p:cNvSpPr/>
          <p:nvPr/>
        </p:nvSpPr>
        <p:spPr>
          <a:xfrm>
            <a:off x="3886200" y="47091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1 TextBox 22"/>
          <p:cNvSpPr txBox="1"/>
          <p:nvPr/>
        </p:nvSpPr>
        <p:spPr>
          <a:xfrm>
            <a:off x="411480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Where it runs</a:t>
            </a:r>
          </a:p>
        </p:txBody>
      </p:sp>
      <p:sp>
        <p:nvSpPr>
          <p:cNvPr id="24" name="build01 TextBox 23"/>
          <p:cNvSpPr txBox="1"/>
          <p:nvPr/>
        </p:nvSpPr>
        <p:spPr>
          <a:xfrm>
            <a:off x="4114800" y="52120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company's own server, from a Windows or Linux package that updates itself</a:t>
            </a:r>
          </a:p>
        </p:txBody>
      </p:sp>
      <p:sp>
        <p:nvSpPr>
          <p:cNvPr id="25" name="build02 Rounded Rectangle 24"/>
          <p:cNvSpPr/>
          <p:nvPr/>
        </p:nvSpPr>
        <p:spPr>
          <a:xfrm>
            <a:off x="7360920" y="1874519"/>
            <a:ext cx="4282135" cy="411480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2 TextBox 25"/>
          <p:cNvSpPr txBox="1"/>
          <p:nvPr/>
        </p:nvSpPr>
        <p:spPr>
          <a:xfrm>
            <a:off x="7635240" y="2011680"/>
            <a:ext cx="373349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Account pool (planned)</a:t>
            </a:r>
          </a:p>
        </p:txBody>
      </p:sp>
      <p:sp>
        <p:nvSpPr>
          <p:cNvPr id="27" name="build02 TextBox 26"/>
          <p:cNvSpPr txBox="1"/>
          <p:nvPr/>
        </p:nvSpPr>
        <p:spPr>
          <a:xfrm>
            <a:off x="7635240" y="2514600"/>
            <a:ext cx="3733495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Several subscriptions and API keys per provider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One hits its limit → the next takes over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Usage and monthly budget tracked per account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Keys live in the secret store, never in chat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Never swaps to a weaker reviewer: review stays Claude Opus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Check your plans allow a shared bot (business, enterprise or API)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13 · COST AND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Mostly plans we already pay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00200"/>
            <a:ext cx="351525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Our own setup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Company enterprise Claude and Gemini plans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Covers a shared company bot, code under company terms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Opus planning and review use the most quota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Add accounts or keys to the pool when busy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4338218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4338218" y="1600200"/>
            <a:ext cx="3515258" cy="822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4612538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45309"/>
                </a:solidFill>
                <a:latin typeface="Arial"/>
              </a:rPr>
              <a:t>Optional extras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4612538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DeepSeek for cheap extra building — off for now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One machine with a 24 GB GPU for local models and testing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8127796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8127796" y="1600200"/>
            <a:ext cx="3515258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8402116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Also needed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8402116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bot app on the chat platform (usually free)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small always-on server on the company network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company Git repository for the tools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The blog, already built into the dashboard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14 · RULES THE BOT ALWAYS FOLLOWS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Seven rules, no exceptions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54864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build01 TextBox 7"/>
          <p:cNvSpPr txBox="1"/>
          <p:nvPr/>
        </p:nvSpPr>
        <p:spPr>
          <a:xfrm>
            <a:off x="1417319" y="155448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Nothing starts until the safety gate passes.</a:t>
            </a:r>
          </a:p>
        </p:txBody>
      </p:sp>
      <p:sp>
        <p:nvSpPr>
          <p:cNvPr id="9" name="build02 Rounded Rectangle 8"/>
          <p:cNvSpPr/>
          <p:nvPr/>
        </p:nvSpPr>
        <p:spPr>
          <a:xfrm>
            <a:off x="548640" y="26974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2 TextBox 9"/>
          <p:cNvSpPr txBox="1"/>
          <p:nvPr/>
        </p:nvSpPr>
        <p:spPr>
          <a:xfrm>
            <a:off x="548640" y="2697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build02 TextBox 10"/>
          <p:cNvSpPr txBox="1"/>
          <p:nvPr/>
        </p:nvSpPr>
        <p:spPr>
          <a:xfrm>
            <a:off x="1417319" y="260604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Nothing paid, needing a login, or released without a maintainer's yes.</a:t>
            </a:r>
          </a:p>
        </p:txBody>
      </p:sp>
      <p:sp>
        <p:nvSpPr>
          <p:cNvPr id="12" name="build03 Rounded Rectangle 11"/>
          <p:cNvSpPr/>
          <p:nvPr/>
        </p:nvSpPr>
        <p:spPr>
          <a:xfrm>
            <a:off x="548640" y="374903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3 TextBox 12"/>
          <p:cNvSpPr txBox="1"/>
          <p:nvPr/>
        </p:nvSpPr>
        <p:spPr>
          <a:xfrm>
            <a:off x="54864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build03 TextBox 13"/>
          <p:cNvSpPr txBox="1"/>
          <p:nvPr/>
        </p:nvSpPr>
        <p:spPr>
          <a:xfrm>
            <a:off x="1417319" y="3657599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Claude Opus reviews every line before a human sees it.</a:t>
            </a:r>
          </a:p>
        </p:txBody>
      </p:sp>
      <p:sp>
        <p:nvSpPr>
          <p:cNvPr id="15" name="build04 Rounded Rectangle 14"/>
          <p:cNvSpPr/>
          <p:nvPr/>
        </p:nvSpPr>
        <p:spPr>
          <a:xfrm>
            <a:off x="548640" y="4800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4 TextBox 15"/>
          <p:cNvSpPr txBox="1"/>
          <p:nvPr/>
        </p:nvSpPr>
        <p:spPr>
          <a:xfrm>
            <a:off x="548640" y="48006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build04 TextBox 16"/>
          <p:cNvSpPr txBox="1"/>
          <p:nvPr/>
        </p:nvSpPr>
        <p:spPr>
          <a:xfrm>
            <a:off x="1417319" y="470916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Company code and summaries are read-only; never sent to unapproved services.</a:t>
            </a:r>
          </a:p>
        </p:txBody>
      </p:sp>
      <p:sp>
        <p:nvSpPr>
          <p:cNvPr id="18" name="build05 Rounded Rectangle 17"/>
          <p:cNvSpPr/>
          <p:nvPr/>
        </p:nvSpPr>
        <p:spPr>
          <a:xfrm>
            <a:off x="621792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5 TextBox 18"/>
          <p:cNvSpPr txBox="1"/>
          <p:nvPr/>
        </p:nvSpPr>
        <p:spPr>
          <a:xfrm>
            <a:off x="621792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build05 TextBox 19"/>
          <p:cNvSpPr txBox="1"/>
          <p:nvPr/>
        </p:nvSpPr>
        <p:spPr>
          <a:xfrm>
            <a:off x="7086600" y="155448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Web pages and posts are information, never instructions.</a:t>
            </a:r>
          </a:p>
        </p:txBody>
      </p:sp>
      <p:sp>
        <p:nvSpPr>
          <p:cNvPr id="21" name="build06 Rounded Rectangle 20"/>
          <p:cNvSpPr/>
          <p:nvPr/>
        </p:nvSpPr>
        <p:spPr>
          <a:xfrm>
            <a:off x="6217920" y="26974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6 TextBox 21"/>
          <p:cNvSpPr txBox="1"/>
          <p:nvPr/>
        </p:nvSpPr>
        <p:spPr>
          <a:xfrm>
            <a:off x="6217920" y="2697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3" name="build06 TextBox 22"/>
          <p:cNvSpPr txBox="1"/>
          <p:nvPr/>
        </p:nvSpPr>
        <p:spPr>
          <a:xfrm>
            <a:off x="7086600" y="260604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Every action is logged in the idea's thread.</a:t>
            </a:r>
          </a:p>
        </p:txBody>
      </p:sp>
      <p:sp>
        <p:nvSpPr>
          <p:cNvPr id="24" name="build07 Rounded Rectangle 23"/>
          <p:cNvSpPr/>
          <p:nvPr/>
        </p:nvSpPr>
        <p:spPr>
          <a:xfrm>
            <a:off x="6217920" y="374903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7 TextBox 24"/>
          <p:cNvSpPr txBox="1"/>
          <p:nvPr/>
        </p:nvSpPr>
        <p:spPr>
          <a:xfrm>
            <a:off x="621792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6" name="build07 TextBox 25"/>
          <p:cNvSpPr txBox="1"/>
          <p:nvPr/>
        </p:nvSpPr>
        <p:spPr>
          <a:xfrm>
            <a:off x="7086600" y="3657599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Every published tool can be uninstalled cleanly.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4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15 · 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core is built; next, grow it into a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31520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31520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Pilot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731520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Built</a:t>
            </a:r>
          </a:p>
        </p:txBody>
      </p:sp>
      <p:sp>
        <p:nvSpPr>
          <p:cNvPr id="11" name="build01 TextBox 10"/>
          <p:cNvSpPr txBox="1"/>
          <p:nvPr/>
        </p:nvSpPr>
        <p:spPr>
          <a:xfrm>
            <a:off x="731520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Slack intake (our platform), safety gate, plan, dashboard, blog post. One team.</a:t>
            </a:r>
          </a:p>
        </p:txBody>
      </p:sp>
      <p:sp>
        <p:nvSpPr>
          <p:cNvPr id="12" name="build02 Rounded Rectangle 11"/>
          <p:cNvSpPr/>
          <p:nvPr/>
        </p:nvSpPr>
        <p:spPr>
          <a:xfrm>
            <a:off x="2804099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2804099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2986979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2986979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Automate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2986979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Mostly built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2986979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Built: builder, Opus review, auto post. Next: tests in a sandbox, install command, account pool.</a:t>
            </a:r>
          </a:p>
        </p:txBody>
      </p:sp>
      <p:sp>
        <p:nvSpPr>
          <p:cNvPr id="18" name="build03 Rounded Rectangle 17"/>
          <p:cNvSpPr/>
          <p:nvPr/>
        </p:nvSpPr>
        <p:spPr>
          <a:xfrm>
            <a:off x="5059558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5059558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5242438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5242438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Company-wide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5242438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Next</a:t>
            </a:r>
          </a:p>
        </p:txBody>
      </p:sp>
      <p:sp>
        <p:nvSpPr>
          <p:cNvPr id="23" name="build03 TextBox 22"/>
          <p:cNvSpPr txBox="1"/>
          <p:nvPr/>
        </p:nvSpPr>
        <p:spPr>
          <a:xfrm>
            <a:off x="5242438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All teams, maintainer rotation, more AI assistants.</a:t>
            </a:r>
          </a:p>
        </p:txBody>
      </p:sp>
      <p:sp>
        <p:nvSpPr>
          <p:cNvPr id="24" name="build04 Rounded Rectangle 23"/>
          <p:cNvSpPr/>
          <p:nvPr/>
        </p:nvSpPr>
        <p:spPr>
          <a:xfrm>
            <a:off x="7315017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Rectangle 24"/>
          <p:cNvSpPr/>
          <p:nvPr/>
        </p:nvSpPr>
        <p:spPr>
          <a:xfrm>
            <a:off x="7315017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7497897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4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7497897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Product</a:t>
            </a:r>
          </a:p>
        </p:txBody>
      </p:sp>
      <p:sp>
        <p:nvSpPr>
          <p:cNvPr id="28" name="build04 TextBox 27"/>
          <p:cNvSpPr txBox="1"/>
          <p:nvPr/>
        </p:nvSpPr>
        <p:spPr>
          <a:xfrm>
            <a:off x="7497897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Started</a:t>
            </a:r>
          </a:p>
        </p:txBody>
      </p:sp>
      <p:sp>
        <p:nvSpPr>
          <p:cNvPr id="29" name="build04 TextBox 28"/>
          <p:cNvSpPr txBox="1"/>
          <p:nvPr/>
        </p:nvSpPr>
        <p:spPr>
          <a:xfrm>
            <a:off x="7497897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Windows package and updater exist. Next: Linux, second chat platform (e.g. Teams).</a:t>
            </a:r>
          </a:p>
        </p:txBody>
      </p:sp>
      <p:sp>
        <p:nvSpPr>
          <p:cNvPr id="30" name="build05 Rounded Rectangle 29"/>
          <p:cNvSpPr/>
          <p:nvPr/>
        </p:nvSpPr>
        <p:spPr>
          <a:xfrm>
            <a:off x="9570476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5 Rectangle 30"/>
          <p:cNvSpPr/>
          <p:nvPr/>
        </p:nvSpPr>
        <p:spPr>
          <a:xfrm>
            <a:off x="9570476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5 TextBox 31"/>
          <p:cNvSpPr txBox="1"/>
          <p:nvPr/>
        </p:nvSpPr>
        <p:spPr>
          <a:xfrm>
            <a:off x="9753356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5</a:t>
            </a:r>
          </a:p>
        </p:txBody>
      </p:sp>
      <p:sp>
        <p:nvSpPr>
          <p:cNvPr id="33" name="build05 TextBox 32"/>
          <p:cNvSpPr txBox="1"/>
          <p:nvPr/>
        </p:nvSpPr>
        <p:spPr>
          <a:xfrm>
            <a:off x="9753356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Local models</a:t>
            </a:r>
          </a:p>
        </p:txBody>
      </p:sp>
      <p:sp>
        <p:nvSpPr>
          <p:cNvPr id="34" name="build05 TextBox 33"/>
          <p:cNvSpPr txBox="1"/>
          <p:nvPr/>
        </p:nvSpPr>
        <p:spPr>
          <a:xfrm>
            <a:off x="9753356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When needed</a:t>
            </a:r>
          </a:p>
        </p:txBody>
      </p:sp>
      <p:sp>
        <p:nvSpPr>
          <p:cNvPr id="35" name="build05 TextBox 34"/>
          <p:cNvSpPr txBox="1"/>
          <p:nvPr/>
        </p:nvSpPr>
        <p:spPr>
          <a:xfrm>
            <a:off x="9753356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GPU machine for cheap building and evals, if usage justifies it.</a:t>
            </a:r>
          </a:p>
        </p:txBody>
      </p:sp>
      <p:sp>
        <p:nvSpPr>
          <p:cNvPr id="36" name="build06 TextBox 35"/>
          <p:cNvSpPr txBox="1"/>
          <p:nvPr/>
        </p:nvSpPr>
        <p:spPr>
          <a:xfrm>
            <a:off x="548640" y="4754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How we will know it works</a:t>
            </a:r>
          </a:p>
        </p:txBody>
      </p:sp>
      <p:sp>
        <p:nvSpPr>
          <p:cNvPr id="37" name="build06 Rounded Rectangle 36"/>
          <p:cNvSpPr/>
          <p:nvPr/>
        </p:nvSpPr>
        <p:spPr>
          <a:xfrm>
            <a:off x="548640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6 TextBox 37"/>
          <p:cNvSpPr txBox="1"/>
          <p:nvPr/>
        </p:nvSpPr>
        <p:spPr>
          <a:xfrm>
            <a:off x="621792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Ideas submitted</a:t>
            </a:r>
          </a:p>
        </p:txBody>
      </p:sp>
      <p:sp>
        <p:nvSpPr>
          <p:cNvPr id="39" name="build06 Rounded Rectangle 38"/>
          <p:cNvSpPr/>
          <p:nvPr/>
        </p:nvSpPr>
        <p:spPr>
          <a:xfrm>
            <a:off x="2420569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build06 TextBox 39"/>
          <p:cNvSpPr txBox="1"/>
          <p:nvPr/>
        </p:nvSpPr>
        <p:spPr>
          <a:xfrm>
            <a:off x="2493721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% shipped</a:t>
            </a:r>
          </a:p>
        </p:txBody>
      </p:sp>
      <p:sp>
        <p:nvSpPr>
          <p:cNvPr id="41" name="build06 Rounded Rectangle 40"/>
          <p:cNvSpPr/>
          <p:nvPr/>
        </p:nvSpPr>
        <p:spPr>
          <a:xfrm>
            <a:off x="4292498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6 TextBox 41"/>
          <p:cNvSpPr txBox="1"/>
          <p:nvPr/>
        </p:nvSpPr>
        <p:spPr>
          <a:xfrm>
            <a:off x="4365650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Installs per tool</a:t>
            </a:r>
          </a:p>
        </p:txBody>
      </p:sp>
      <p:sp>
        <p:nvSpPr>
          <p:cNvPr id="43" name="build06 Rounded Rectangle 42"/>
          <p:cNvSpPr/>
          <p:nvPr/>
        </p:nvSpPr>
        <p:spPr>
          <a:xfrm>
            <a:off x="6164427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build06 TextBox 43"/>
          <p:cNvSpPr txBox="1"/>
          <p:nvPr/>
        </p:nvSpPr>
        <p:spPr>
          <a:xfrm>
            <a:off x="6237579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Time to release</a:t>
            </a:r>
          </a:p>
        </p:txBody>
      </p:sp>
      <p:sp>
        <p:nvSpPr>
          <p:cNvPr id="45" name="build06 Rounded Rectangle 44"/>
          <p:cNvSpPr/>
          <p:nvPr/>
        </p:nvSpPr>
        <p:spPr>
          <a:xfrm>
            <a:off x="8036356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build06 TextBox 45"/>
          <p:cNvSpPr txBox="1"/>
          <p:nvPr/>
        </p:nvSpPr>
        <p:spPr>
          <a:xfrm>
            <a:off x="8109508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Cost per tool</a:t>
            </a:r>
          </a:p>
        </p:txBody>
      </p:sp>
      <p:sp>
        <p:nvSpPr>
          <p:cNvPr id="47" name="build06 Rounded Rectangle 46"/>
          <p:cNvSpPr/>
          <p:nvPr/>
        </p:nvSpPr>
        <p:spPr>
          <a:xfrm>
            <a:off x="9908286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build06 TextBox 47"/>
          <p:cNvSpPr txBox="1"/>
          <p:nvPr/>
        </p:nvSpPr>
        <p:spPr>
          <a:xfrm>
            <a:off x="9981438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“Was this useful?”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/>
      <p:bldP spid="12" grpId="0" animBg="1"/>
      <p:bldP spid="13" grpId="0" animBg="1"/>
      <p:bldP spid="14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 animBg="1"/>
      <p:bldP spid="25" grpId="0" animBg="1"/>
      <p:bldP spid="26" grpId="0"/>
      <p:bldP spid="27" grpId="0"/>
      <p:bldP spid="28" grpId="0"/>
      <p:bldP spid="29" grpId="0"/>
      <p:bldP spid="30" grpId="0" animBg="1"/>
      <p:bldP spid="31" grpId="0" animBg="1"/>
      <p:bldP spid="32" grpId="0"/>
      <p:bldP spid="33" grpId="0"/>
      <p:bldP spid="34" grpId="0"/>
      <p:bldP spid="35" grpId="0"/>
      <p:bldP spid="36" grpId="0"/>
      <p:bldP spid="37" grpId="0" animBg="1"/>
      <p:bldP spid="38" grpId="0"/>
      <p:bldP spid="39" grpId="0" animBg="1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  <p:bldP spid="47" grpId="0" animBg="1"/>
      <p:bldP spid="4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16 ·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could go wrong, and how we handle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167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42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Handling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Harmful or buggy tool on many laptops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Two safety checks, human approval, sandboxed builds (next), versions, one-command uninstall, pull a release.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Hidden instructions in a link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Links read by a separate process as plain data; no secrets while reading.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Company code leaks to an outside AI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Only approved providers see code; summaries instead of full source where possible.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Costs grow quietly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Budgets per provider and account, usage shown to maintainers, cheap models do bulk work.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Account pool breaks provider terms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Business, enterprise plans or API keys recommended; each company checks its plans.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Too many low-value ideas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Duplicate check, “not now” label, simple priority queue.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Maintainer bottleneck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Several maintainers, topic routing, automatic reassignment after a timeout.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17 ·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we have decided so 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9456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DeepSeek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51760"/>
            <a:ext cx="490712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Off for now. Self-hosted models may become a setup option.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6278727" y="160020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6278727" y="176479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6553047" y="178308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D2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6553047" y="219456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Blog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6553047" y="2651760"/>
            <a:ext cx="490712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Posts are Markdown files, served by the dashboard's own blog page.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548640" y="384048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Rectangle 16"/>
          <p:cNvSpPr/>
          <p:nvPr/>
        </p:nvSpPr>
        <p:spPr>
          <a:xfrm>
            <a:off x="548640" y="400507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TextBox 17"/>
          <p:cNvSpPr txBox="1"/>
          <p:nvPr/>
        </p:nvSpPr>
        <p:spPr>
          <a:xfrm>
            <a:off x="822959" y="402336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D3</a:t>
            </a:r>
          </a:p>
        </p:txBody>
      </p:sp>
      <p:sp>
        <p:nvSpPr>
          <p:cNvPr id="19" name="build03 TextBox 18"/>
          <p:cNvSpPr txBox="1"/>
          <p:nvPr/>
        </p:nvSpPr>
        <p:spPr>
          <a:xfrm>
            <a:off x="822959" y="443484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Maintainers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822959" y="4892040"/>
            <a:ext cx="4907127" cy="91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Raghav is the pilot's admin and first maintainer. Maintainers answer within 24 hours.</a:t>
            </a:r>
          </a:p>
        </p:txBody>
      </p:sp>
      <p:sp>
        <p:nvSpPr>
          <p:cNvPr id="21" name="build04 Rounded Rectangle 20"/>
          <p:cNvSpPr/>
          <p:nvPr/>
        </p:nvSpPr>
        <p:spPr>
          <a:xfrm>
            <a:off x="6278727" y="384048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4 Rectangle 21"/>
          <p:cNvSpPr/>
          <p:nvPr/>
        </p:nvSpPr>
        <p:spPr>
          <a:xfrm>
            <a:off x="6278727" y="400507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4 TextBox 22"/>
          <p:cNvSpPr txBox="1"/>
          <p:nvPr/>
        </p:nvSpPr>
        <p:spPr>
          <a:xfrm>
            <a:off x="6553047" y="402336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D4</a:t>
            </a:r>
          </a:p>
        </p:txBody>
      </p:sp>
      <p:sp>
        <p:nvSpPr>
          <p:cNvPr id="24" name="build04 TextBox 23"/>
          <p:cNvSpPr txBox="1"/>
          <p:nvPr/>
        </p:nvSpPr>
        <p:spPr>
          <a:xfrm>
            <a:off x="6553047" y="443484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Offering the product</a:t>
            </a:r>
          </a:p>
        </p:txBody>
      </p:sp>
      <p:sp>
        <p:nvSpPr>
          <p:cNvPr id="25" name="build04 TextBox 24"/>
          <p:cNvSpPr txBox="1"/>
          <p:nvPr/>
        </p:nvSpPr>
        <p:spPr>
          <a:xfrm>
            <a:off x="6553047" y="4892040"/>
            <a:ext cx="4907127" cy="91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Each company hosts it on its own network, from a Windows or Linux package that updates itself.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am.jpg"/>
          <p:cNvPicPr>
            <a:picLocks noChangeAspect="1"/>
          </p:cNvPicPr>
          <p:nvPr/>
        </p:nvPicPr>
        <p:blipFill>
          <a:blip r:embed="rId3"/>
          <a:srcRect t="6971" b="697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build01 TextBox 3"/>
          <p:cNvSpPr txBox="1"/>
          <p:nvPr/>
        </p:nvSpPr>
        <p:spPr>
          <a:xfrm>
            <a:off x="548640" y="14630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3C5FD"/>
                </a:solidFill>
                <a:latin typeface="Arial"/>
              </a:rPr>
              <a:t>NEXT STEPS</a:t>
            </a:r>
          </a:p>
        </p:txBody>
      </p:sp>
      <p:sp>
        <p:nvSpPr>
          <p:cNvPr id="5" name="build01 TextBox 4"/>
          <p:cNvSpPr txBox="1"/>
          <p:nvPr/>
        </p:nvSpPr>
        <p:spPr>
          <a:xfrm>
            <a:off x="548640" y="19202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Turn good ideas into tools everyone uses</a:t>
            </a:r>
          </a:p>
        </p:txBody>
      </p:sp>
      <p:sp>
        <p:nvSpPr>
          <p:cNvPr id="6" name="build02 Rounded Rectangle 5"/>
          <p:cNvSpPr/>
          <p:nvPr/>
        </p:nvSpPr>
        <p:spPr>
          <a:xfrm>
            <a:off x="548640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2 TextBox 6"/>
          <p:cNvSpPr txBox="1"/>
          <p:nvPr/>
        </p:nvSpPr>
        <p:spPr>
          <a:xfrm>
            <a:off x="822959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1</a:t>
            </a:r>
          </a:p>
        </p:txBody>
      </p:sp>
      <p:sp>
        <p:nvSpPr>
          <p:cNvPr id="8" name="build02 TextBox 7"/>
          <p:cNvSpPr txBox="1"/>
          <p:nvPr/>
        </p:nvSpPr>
        <p:spPr>
          <a:xfrm>
            <a:off x="822959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Review this proposal</a:t>
            </a:r>
          </a:p>
        </p:txBody>
      </p:sp>
      <p:sp>
        <p:nvSpPr>
          <p:cNvPr id="9" name="build03 Rounded Rectangle 8"/>
          <p:cNvSpPr/>
          <p:nvPr/>
        </p:nvSpPr>
        <p:spPr>
          <a:xfrm>
            <a:off x="4338218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3 TextBox 9"/>
          <p:cNvSpPr txBox="1"/>
          <p:nvPr/>
        </p:nvSpPr>
        <p:spPr>
          <a:xfrm>
            <a:off x="4612538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2</a:t>
            </a:r>
          </a:p>
        </p:txBody>
      </p:sp>
      <p:sp>
        <p:nvSpPr>
          <p:cNvPr id="11" name="build03 TextBox 10"/>
          <p:cNvSpPr txBox="1"/>
          <p:nvPr/>
        </p:nvSpPr>
        <p:spPr>
          <a:xfrm>
            <a:off x="4612538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Pick the pilot team</a:t>
            </a:r>
          </a:p>
        </p:txBody>
      </p:sp>
      <p:sp>
        <p:nvSpPr>
          <p:cNvPr id="12" name="build04 Rounded Rectangle 11"/>
          <p:cNvSpPr/>
          <p:nvPr/>
        </p:nvSpPr>
        <p:spPr>
          <a:xfrm>
            <a:off x="8127796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4 TextBox 12"/>
          <p:cNvSpPr txBox="1"/>
          <p:nvPr/>
        </p:nvSpPr>
        <p:spPr>
          <a:xfrm>
            <a:off x="8402116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3</a:t>
            </a:r>
          </a:p>
        </p:txBody>
      </p:sp>
      <p:sp>
        <p:nvSpPr>
          <p:cNvPr id="14" name="build04 TextBox 13"/>
          <p:cNvSpPr txBox="1"/>
          <p:nvPr/>
        </p:nvSpPr>
        <p:spPr>
          <a:xfrm>
            <a:off x="8402116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Run the pilot with that team</a:t>
            </a:r>
          </a:p>
        </p:txBody>
      </p:sp>
      <p:sp>
        <p:nvSpPr>
          <p:cNvPr id="15" name="build05 TextBox 14"/>
          <p:cNvSpPr txBox="1"/>
          <p:nvPr/>
        </p:nvSpPr>
        <p:spPr>
          <a:xfrm>
            <a:off x="548640" y="51206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F1F5F9"/>
                </a:solidFill>
                <a:latin typeface="Arial"/>
              </a:rPr>
              <a:t>Full details: README.md in the DevExAI project.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2284</Words>
  <Application>Microsoft Office PowerPoint</Application>
  <PresentationFormat>Widescreen</PresentationFormat>
  <Paragraphs>349</Paragraphs>
  <Slides>19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DevExAI</dc:title>
  <dc:subject/>
  <dc:creator/>
  <cp:keywords/>
  <dc:description/>
  <cp:lastModifiedBy/>
  <cp:revision>2</cp:revision>
  <dcterms:created xsi:type="dcterms:W3CDTF">2013-01-27T09:14:16Z</dcterms:created>
  <dcterms:modified xsi:type="dcterms:W3CDTF">2026-10-21T19:42:14Z</dcterms:modified>
  <cp:category/>
</cp:coreProperties>
</file>